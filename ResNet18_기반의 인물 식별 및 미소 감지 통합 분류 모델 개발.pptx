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71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7882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8446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g"/><Relationship Id="rId3" Type="http://schemas.openxmlformats.org/officeDocument/2006/relationships/image" Target="../media/image3.jpeg"/><Relationship Id="rId7" Type="http://schemas.openxmlformats.org/officeDocument/2006/relationships/image" Target="../media/image1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g"/><Relationship Id="rId11" Type="http://schemas.openxmlformats.org/officeDocument/2006/relationships/image" Target="../media/image23.jpg"/><Relationship Id="rId5" Type="http://schemas.openxmlformats.org/officeDocument/2006/relationships/image" Target="../media/image17.jpg"/><Relationship Id="rId10" Type="http://schemas.openxmlformats.org/officeDocument/2006/relationships/image" Target="../media/image22.jpg"/><Relationship Id="rId4" Type="http://schemas.openxmlformats.org/officeDocument/2006/relationships/image" Target="../media/image16.png"/><Relationship Id="rId9" Type="http://schemas.openxmlformats.org/officeDocument/2006/relationships/image" Target="../media/image2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6845" y="1137760"/>
            <a:ext cx="4429125" cy="1538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FFFFFF"/>
                </a:solidFill>
                <a:latin typeface="Arial Black" panose="020B0A04020102020204" pitchFamily="34" charset="0"/>
                <a:ea typeface="210 옴니고딕 035" panose="02020603020101020101" pitchFamily="18" charset="-127"/>
                <a:cs typeface="Space Grotesk" pitchFamily="34" charset="-120"/>
              </a:rPr>
              <a:t>ResNet18 기반의
인물 식별 및 미소 감지
통합 분류 모델 개발</a:t>
            </a:r>
            <a:endParaRPr lang="en-US" sz="3294" dirty="0">
              <a:latin typeface="Arial Black" panose="020B0A04020102020204" pitchFamily="34" charset="0"/>
              <a:ea typeface="210 옴니고딕 035" panose="02020603020101020101" pitchFamily="18" charset="-127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3353885"/>
            <a:ext cx="4429125" cy="547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kern="0" spc="1" dirty="0">
                <a:solidFill>
                  <a:srgbClr val="4D79FF"/>
                </a:solidFill>
                <a:latin typeface="Arial Black" panose="020B0A04020102020204" pitchFamily="34" charset="0"/>
                <a:ea typeface="210 옴니고딕 035" panose="02020603020101020101" pitchFamily="18" charset="-127"/>
                <a:cs typeface="Space Grotesk" pitchFamily="34" charset="-120"/>
              </a:rPr>
              <a:t>Identity Classification + Smile Detection</a:t>
            </a:r>
            <a:endParaRPr lang="en-US" sz="1602" dirty="0">
              <a:latin typeface="Arial Black" panose="020B0A04020102020204" pitchFamily="34" charset="0"/>
              <a:ea typeface="210 옴니고딕 035" panose="02020603020101020101" pitchFamily="18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8CB9DEC-8731-1CFB-5327-7D0FF243EE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2402" y="1006482"/>
            <a:ext cx="3885166" cy="3881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233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16186"/>
            <a:ext cx="9144000" cy="7144"/>
          </a:xfrm>
          <a:prstGeom prst="rect">
            <a:avLst/>
          </a:prstGeom>
          <a:solidFill>
            <a:srgbClr val="CAD7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357188"/>
            <a:ext cx="654025" cy="4488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FFFFFF"/>
                </a:solidFill>
                <a:latin typeface="Arial Black" panose="020B0A04020102020204" pitchFamily="34" charset="0"/>
                <a:ea typeface="210 옴니고딕 045" panose="02020603020101020101" pitchFamily="18" charset="-127"/>
                <a:cs typeface="Space Grotesk" pitchFamily="34" charset="-120"/>
              </a:rPr>
              <a:t>목차</a:t>
            </a:r>
            <a:endParaRPr lang="en-US" sz="2649" dirty="0">
              <a:latin typeface="Arial Black" panose="020B0A04020102020204" pitchFamily="34" charset="0"/>
              <a:ea typeface="210 옴니고딕 045" panose="02020603020101020101" pitchFamily="18" charset="-127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71500" y="1173361"/>
            <a:ext cx="3936206" cy="1792188"/>
          </a:xfrm>
          <a:prstGeom prst="rect">
            <a:avLst/>
          </a:prstGeom>
          <a:solidFill>
            <a:srgbClr val="161E35">
              <a:alpha val="10000"/>
            </a:srgbClr>
          </a:solidFill>
          <a:ln w="9144">
            <a:solidFill>
              <a:srgbClr val="4D79FF">
                <a:alpha val="3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1513" y="1273373"/>
            <a:ext cx="416781" cy="3462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4D79FF"/>
                </a:solidFill>
                <a:latin typeface="Arial Black" panose="020B0A04020102020204" pitchFamily="34" charset="0"/>
                <a:ea typeface="210 옴니고딕 025" panose="02020603020101020101" pitchFamily="18" charset="-127"/>
                <a:cs typeface="Space Grotesk" pitchFamily="34" charset="-120"/>
              </a:rPr>
              <a:t>01</a:t>
            </a:r>
            <a:endParaRPr lang="en-US" sz="2436" dirty="0">
              <a:latin typeface="Arial Black" panose="020B0A04020102020204" pitchFamily="34" charset="0"/>
              <a:ea typeface="210 옴니고딕 025" panose="02020603020101020101" pitchFamily="18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671513" y="1687711"/>
            <a:ext cx="878446" cy="2579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Arial" panose="020B0604020202020204" pitchFamily="34" charset="0"/>
                <a:ea typeface="Space Grotesk" pitchFamily="34" charset="-122"/>
                <a:cs typeface="Arial" panose="020B0604020202020204" pitchFamily="34" charset="0"/>
              </a:rPr>
              <a:t>개발 개요</a:t>
            </a:r>
            <a:endParaRPr lang="en-US" sz="1602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71513" y="2068116"/>
            <a:ext cx="1414041" cy="168892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프로젝트 파이프라인</a:t>
            </a:r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71513" y="2303859"/>
            <a:ext cx="1010085" cy="168892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데이터 전처리</a:t>
            </a:r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71513" y="2539603"/>
            <a:ext cx="1531060" cy="16504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모델 구조 및 훈련 전략</a:t>
            </a:r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636294" y="1173361"/>
            <a:ext cx="3936206" cy="1792188"/>
          </a:xfrm>
          <a:prstGeom prst="rect">
            <a:avLst/>
          </a:prstGeom>
          <a:solidFill>
            <a:srgbClr val="161E35">
              <a:alpha val="10000"/>
            </a:srgbClr>
          </a:solidFill>
          <a:ln w="9144">
            <a:solidFill>
              <a:srgbClr val="4D79FF">
                <a:alpha val="3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1513" y="2068116"/>
            <a:ext cx="8036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D7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71513" y="2303859"/>
            <a:ext cx="8036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D7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71513" y="2539603"/>
            <a:ext cx="8036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D7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736306" y="1273373"/>
            <a:ext cx="416781" cy="3462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4D79FF"/>
                </a:solidFill>
                <a:latin typeface="Arial Black" panose="020B0A04020102020204" pitchFamily="34" charset="0"/>
                <a:ea typeface="210 옴니고딕 025" panose="02020603020101020101" pitchFamily="18" charset="-127"/>
                <a:cs typeface="Space Grotesk" pitchFamily="34" charset="-120"/>
              </a:rPr>
              <a:t>02</a:t>
            </a:r>
            <a:endParaRPr lang="en-US" sz="2436" dirty="0">
              <a:latin typeface="Arial Black" panose="020B0A04020102020204" pitchFamily="34" charset="0"/>
              <a:ea typeface="210 옴니고딕 025" panose="02020603020101020101" pitchFamily="18" charset="-12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736306" y="1687711"/>
            <a:ext cx="1025922" cy="2579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Arial" panose="020B0604020202020204" pitchFamily="34" charset="0"/>
                <a:ea typeface="Space Grotesk" pitchFamily="34" charset="-122"/>
                <a:cs typeface="Arial" panose="020B0604020202020204" pitchFamily="34" charset="0"/>
              </a:rPr>
              <a:t>사용설명서</a:t>
            </a:r>
            <a:endParaRPr lang="en-US" sz="1602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736306" y="2068116"/>
            <a:ext cx="1741054" cy="16504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4단계 자동 분류 폴더 구조</a:t>
            </a:r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736306" y="2303859"/>
            <a:ext cx="1010085" cy="168892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성능 벤치마크</a:t>
            </a:r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71500" y="3094137"/>
            <a:ext cx="3936206" cy="1792188"/>
          </a:xfrm>
          <a:prstGeom prst="rect">
            <a:avLst/>
          </a:prstGeom>
          <a:solidFill>
            <a:srgbClr val="161E35">
              <a:alpha val="10000"/>
            </a:srgbClr>
          </a:solidFill>
          <a:ln w="9144">
            <a:solidFill>
              <a:srgbClr val="4D79FF">
                <a:alpha val="3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36306" y="2068116"/>
            <a:ext cx="8036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D7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736306" y="2303859"/>
            <a:ext cx="8036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D7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71513" y="3194149"/>
            <a:ext cx="416781" cy="3462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4D79FF"/>
                </a:solidFill>
                <a:latin typeface="Arial Black" panose="020B0A04020102020204" pitchFamily="34" charset="0"/>
                <a:ea typeface="210 옴니고딕 025" panose="02020603020101020101" pitchFamily="18" charset="-127"/>
                <a:cs typeface="Space Grotesk" pitchFamily="34" charset="-120"/>
              </a:rPr>
              <a:t>03</a:t>
            </a:r>
            <a:endParaRPr lang="en-US" sz="2436" dirty="0">
              <a:latin typeface="Arial Black" panose="020B0A04020102020204" pitchFamily="34" charset="0"/>
              <a:ea typeface="210 옴니고딕 025" panose="02020603020101020101" pitchFamily="18" charset="-127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71513" y="3608487"/>
            <a:ext cx="615553" cy="2579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Arial" panose="020B0604020202020204" pitchFamily="34" charset="0"/>
                <a:ea typeface="Space Grotesk" pitchFamily="34" charset="-122"/>
                <a:cs typeface="Arial" panose="020B0604020202020204" pitchFamily="34" charset="0"/>
              </a:rPr>
              <a:t>문제점</a:t>
            </a:r>
            <a:endParaRPr lang="en-US" sz="1602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71513" y="3988891"/>
            <a:ext cx="2241191" cy="16504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시각화 차트 기반 오분류 원인 분석</a:t>
            </a:r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71513" y="4224635"/>
            <a:ext cx="575670" cy="168892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한계점</a:t>
            </a:r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4636294" y="3094137"/>
            <a:ext cx="3936206" cy="1792188"/>
          </a:xfrm>
          <a:prstGeom prst="rect">
            <a:avLst/>
          </a:prstGeom>
          <a:solidFill>
            <a:srgbClr val="161E35">
              <a:alpha val="10000"/>
            </a:srgbClr>
          </a:solidFill>
          <a:ln w="9144">
            <a:solidFill>
              <a:srgbClr val="4D79FF">
                <a:alpha val="3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71513" y="3988891"/>
            <a:ext cx="8036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D7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71513" y="4224635"/>
            <a:ext cx="8036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D7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736306" y="3194149"/>
            <a:ext cx="416781" cy="3462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4D79FF"/>
                </a:solidFill>
                <a:latin typeface="Arial Black" panose="020B0A04020102020204" pitchFamily="34" charset="0"/>
                <a:ea typeface="210 옴니고딕 025" panose="02020603020101020101" pitchFamily="18" charset="-127"/>
                <a:cs typeface="Space Grotesk" pitchFamily="34" charset="-120"/>
              </a:rPr>
              <a:t>04</a:t>
            </a:r>
            <a:endParaRPr lang="en-US" sz="2436" dirty="0">
              <a:latin typeface="Arial Black" panose="020B0A04020102020204" pitchFamily="34" charset="0"/>
              <a:ea typeface="210 옴니고딕 025" panose="02020603020101020101" pitchFamily="18" charset="-127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736306" y="3608487"/>
            <a:ext cx="1551707" cy="2579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Arial" panose="020B0604020202020204" pitchFamily="34" charset="0"/>
                <a:ea typeface="Space Grotesk" pitchFamily="34" charset="-122"/>
                <a:cs typeface="Arial" panose="020B0604020202020204" pitchFamily="34" charset="0"/>
              </a:rPr>
              <a:t>추후 추가할 내용</a:t>
            </a:r>
            <a:endParaRPr lang="en-US" sz="1602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736306" y="3988891"/>
            <a:ext cx="2449581" cy="16504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감정 확장 및 실시간 처리 등 발전 방향</a:t>
            </a:r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736306" y="3988891"/>
            <a:ext cx="8036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D7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90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001911"/>
            <a:ext cx="9144000" cy="7144"/>
          </a:xfrm>
          <a:prstGeom prst="rect">
            <a:avLst/>
          </a:prstGeom>
          <a:solidFill>
            <a:srgbClr val="CAD7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357188"/>
            <a:ext cx="4361771" cy="4488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FFFFFF"/>
                </a:solidFill>
                <a:latin typeface="Arial Black" panose="020B0A04020102020204" pitchFamily="34" charset="0"/>
                <a:ea typeface="210 옴니고딕 035" panose="02020603020101020101" pitchFamily="18" charset="-127"/>
                <a:cs typeface="Space Grotesk" pitchFamily="34" charset="-120"/>
              </a:rPr>
              <a:t>1</a:t>
            </a:r>
            <a:r>
              <a:rPr lang="en-US" sz="2649" b="1" dirty="0">
                <a:solidFill>
                  <a:srgbClr val="FFFFFF"/>
                </a:solidFill>
                <a:latin typeface="Arial Black" panose="020B0A04020102020204" pitchFamily="34" charset="0"/>
                <a:ea typeface="210 옴니고딕 045" panose="02020603020101020101" pitchFamily="18" charset="-127"/>
                <a:cs typeface="Space Grotesk" pitchFamily="34" charset="-120"/>
              </a:rPr>
              <a:t>. 개발 개요: 전체 Pipeline</a:t>
            </a:r>
            <a:endParaRPr lang="en-US" sz="2649" dirty="0">
              <a:latin typeface="Arial Black" panose="020B0A04020102020204" pitchFamily="34" charset="0"/>
              <a:ea typeface="210 옴니고딕 045" panose="02020603020101020101" pitchFamily="18" charset="-127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935063" y="1904005"/>
            <a:ext cx="5273873" cy="764381"/>
          </a:xfrm>
          <a:prstGeom prst="rect">
            <a:avLst/>
          </a:prstGeom>
          <a:solidFill>
            <a:srgbClr val="4D79FF">
              <a:alpha val="10000"/>
            </a:srgbClr>
          </a:solidFill>
          <a:ln w="9144">
            <a:solidFill>
              <a:srgbClr val="4D79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935063" y="1904005"/>
            <a:ext cx="5273873" cy="753796"/>
          </a:xfrm>
          <a:prstGeom prst="rect">
            <a:avLst/>
          </a:prstGeom>
          <a:noFill/>
          <a:ln/>
        </p:spPr>
        <p:txBody>
          <a:bodyPr wrap="square" lIns="340233" tIns="170053" rIns="340233" bIns="170053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00" b="1" dirty="0" err="1">
                <a:solidFill>
                  <a:srgbClr val="FFFFFF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단일</a:t>
            </a: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이미지에서 8명의 연예인 중 누구인지(</a:t>
            </a:r>
            <a:r>
              <a:rPr lang="en-US" sz="1400" b="1" dirty="0">
                <a:solidFill>
                  <a:srgbClr val="4D79FF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Identity</a:t>
            </a: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)와
표정(</a:t>
            </a:r>
            <a:r>
              <a:rPr lang="en-US" sz="1400" b="1" dirty="0">
                <a:solidFill>
                  <a:srgbClr val="4D79FF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미소/무표정</a:t>
            </a: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) 여부를 동시에 판별하는 모델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42938" y="3232742"/>
            <a:ext cx="7858125" cy="14288"/>
          </a:xfrm>
          <a:prstGeom prst="rect">
            <a:avLst/>
          </a:prstGeom>
          <a:solidFill>
            <a:srgbClr val="4D79FF"/>
          </a:solidFill>
          <a:ln/>
        </p:spPr>
      </p:sp>
      <p:sp>
        <p:nvSpPr>
          <p:cNvPr id="9" name="Shape 6"/>
          <p:cNvSpPr/>
          <p:nvPr/>
        </p:nvSpPr>
        <p:spPr>
          <a:xfrm>
            <a:off x="581853" y="2946992"/>
            <a:ext cx="571500" cy="571500"/>
          </a:xfrm>
          <a:prstGeom prst="ellipse">
            <a:avLst/>
          </a:prstGeom>
          <a:solidFill>
            <a:srgbClr val="161E35"/>
          </a:solidFill>
          <a:ln w="18288">
            <a:solidFill>
              <a:srgbClr val="4D79FF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303" y="3118442"/>
            <a:ext cx="228600" cy="228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32727" y="3625648"/>
            <a:ext cx="869752" cy="221456"/>
          </a:xfrm>
          <a:prstGeom prst="rect">
            <a:avLst/>
          </a:prstGeom>
          <a:solidFill>
            <a:srgbClr val="4D79FF">
              <a:alpha val="20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487504" y="3640516"/>
            <a:ext cx="806631" cy="207236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210 옴니고딕 025" panose="02020603020101020101" pitchFamily="18" charset="-127"/>
                <a:cs typeface="Arial" panose="020B0604020202020204" pitchFamily="34" charset="0"/>
              </a:rPr>
              <a:t>crawling.py</a:t>
            </a:r>
            <a:endParaRPr lang="en-US" sz="900" dirty="0">
              <a:latin typeface="Arial" panose="020B0604020202020204" pitchFamily="34" charset="0"/>
              <a:ea typeface="210 옴니고딕 025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38978" y="3954261"/>
            <a:ext cx="857250" cy="267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b="1" dirty="0">
                <a:solidFill>
                  <a:srgbClr val="B0B0B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네이버 이미지 검색
연예인 데이터 수집</a:t>
            </a:r>
            <a:endParaRPr lang="en-US" sz="727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1849506" y="2946992"/>
            <a:ext cx="571500" cy="571500"/>
          </a:xfrm>
          <a:prstGeom prst="ellipse">
            <a:avLst/>
          </a:prstGeom>
          <a:solidFill>
            <a:srgbClr val="161E35"/>
          </a:solidFill>
          <a:ln w="18288">
            <a:solidFill>
              <a:srgbClr val="4D79FF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0956" y="3118442"/>
            <a:ext cx="228600" cy="2286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520893" y="3625648"/>
            <a:ext cx="1228725" cy="221456"/>
          </a:xfrm>
          <a:prstGeom prst="rect">
            <a:avLst/>
          </a:prstGeom>
          <a:solidFill>
            <a:srgbClr val="4D79FF">
              <a:alpha val="20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1587670" y="3625648"/>
            <a:ext cx="1095172" cy="207236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210 옴니고딕 025" panose="02020603020101020101" pitchFamily="18" charset="-127"/>
                <a:cs typeface="Arial" panose="020B0604020202020204" pitchFamily="34" charset="0"/>
              </a:rPr>
              <a:t>initialize_data.py</a:t>
            </a:r>
            <a:endParaRPr lang="en-US" sz="900" dirty="0">
              <a:latin typeface="Arial" panose="020B0604020202020204" pitchFamily="34" charset="0"/>
              <a:ea typeface="210 옴니고딕 025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1706631" y="3954261"/>
            <a:ext cx="857250" cy="267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b="1" dirty="0">
                <a:solidFill>
                  <a:srgbClr val="B0B0B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수동 라벨링 /
계층적 데이터 분할</a:t>
            </a:r>
            <a:endParaRPr lang="en-US" sz="727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3226464" y="2946992"/>
            <a:ext cx="571500" cy="571500"/>
          </a:xfrm>
          <a:prstGeom prst="ellipse">
            <a:avLst/>
          </a:prstGeom>
          <a:solidFill>
            <a:srgbClr val="161E35"/>
          </a:solidFill>
          <a:ln w="18288">
            <a:solidFill>
              <a:srgbClr val="4D79FF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7914" y="3118442"/>
            <a:ext cx="228600" cy="22860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2892493" y="3625648"/>
            <a:ext cx="1239441" cy="221456"/>
          </a:xfrm>
          <a:prstGeom prst="rect">
            <a:avLst/>
          </a:prstGeom>
          <a:solidFill>
            <a:srgbClr val="4D79FF">
              <a:alpha val="20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2945392" y="3625648"/>
            <a:ext cx="1133644" cy="207236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Space Grotesk" pitchFamily="34" charset="-122"/>
                <a:cs typeface="Arial" panose="020B0604020202020204" pitchFamily="34" charset="0"/>
              </a:rPr>
              <a:t>preprocessing.py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3069301" y="3954261"/>
            <a:ext cx="885825" cy="267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b="1" dirty="0">
                <a:solidFill>
                  <a:srgbClr val="B0B0B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MTCNN 알고리즘
얼굴 정밀 추출·크롭</a:t>
            </a:r>
            <a:endParaRPr lang="en-US" sz="727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4499474" y="2946992"/>
            <a:ext cx="571500" cy="571500"/>
          </a:xfrm>
          <a:prstGeom prst="ellipse">
            <a:avLst/>
          </a:prstGeom>
          <a:solidFill>
            <a:srgbClr val="161E35"/>
          </a:solidFill>
          <a:ln w="18288">
            <a:solidFill>
              <a:srgbClr val="4D79FF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5212" y="3118442"/>
            <a:ext cx="200025" cy="22860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4371780" y="3625648"/>
            <a:ext cx="826889" cy="221456"/>
          </a:xfrm>
          <a:prstGeom prst="rect">
            <a:avLst/>
          </a:prstGeom>
          <a:solidFill>
            <a:srgbClr val="4D79FF">
              <a:alpha val="20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4413970" y="3625648"/>
            <a:ext cx="742512" cy="207236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Space Grotesk" pitchFamily="34" charset="-122"/>
                <a:cs typeface="Arial" panose="020B0604020202020204" pitchFamily="34" charset="0"/>
              </a:rPr>
              <a:t>dataset.py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4406605" y="3954261"/>
            <a:ext cx="757238" cy="267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b="1" dirty="0">
                <a:solidFill>
                  <a:srgbClr val="B0B0B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PyTorch 텐서 /
데이터 증강 적용</a:t>
            </a:r>
            <a:endParaRPr lang="en-US" sz="727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5663180" y="2946992"/>
            <a:ext cx="571500" cy="571500"/>
          </a:xfrm>
          <a:prstGeom prst="ellipse">
            <a:avLst/>
          </a:prstGeom>
          <a:solidFill>
            <a:srgbClr val="161E35"/>
          </a:solidFill>
          <a:ln w="18288">
            <a:solidFill>
              <a:srgbClr val="4D79FF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6055" y="3118442"/>
            <a:ext cx="285750" cy="2286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5589064" y="3625648"/>
            <a:ext cx="719733" cy="221456"/>
          </a:xfrm>
          <a:prstGeom prst="rect">
            <a:avLst/>
          </a:prstGeom>
          <a:solidFill>
            <a:srgbClr val="4D79FF">
              <a:alpha val="20000"/>
            </a:srgbClr>
          </a:solidFill>
          <a:ln/>
        </p:spPr>
      </p:sp>
      <p:sp>
        <p:nvSpPr>
          <p:cNvPr id="32" name="Text 24"/>
          <p:cNvSpPr/>
          <p:nvPr/>
        </p:nvSpPr>
        <p:spPr>
          <a:xfrm>
            <a:off x="5584255" y="3625648"/>
            <a:ext cx="678391" cy="207236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Space Grotesk" pitchFamily="34" charset="-122"/>
                <a:cs typeface="Arial" panose="020B0604020202020204" pitchFamily="34" charset="0"/>
              </a:rPr>
              <a:t>model.py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5537271" y="3954261"/>
            <a:ext cx="823317" cy="267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b="1" dirty="0">
                <a:solidFill>
                  <a:srgbClr val="B0B0B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Multi-Task 학습용
아키텍처 정의</a:t>
            </a:r>
            <a:endParaRPr lang="en-US" sz="727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6826886" y="2946992"/>
            <a:ext cx="571500" cy="571500"/>
          </a:xfrm>
          <a:prstGeom prst="ellipse">
            <a:avLst/>
          </a:prstGeom>
          <a:solidFill>
            <a:srgbClr val="161E35"/>
          </a:solidFill>
          <a:ln w="18288">
            <a:solidFill>
              <a:srgbClr val="4D79FF"/>
            </a:solidFill>
            <a:prstDash val="solid"/>
          </a:ln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69761" y="3118442"/>
            <a:ext cx="285750" cy="228600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6793846" y="3625648"/>
            <a:ext cx="637580" cy="221456"/>
          </a:xfrm>
          <a:prstGeom prst="rect">
            <a:avLst/>
          </a:prstGeom>
          <a:solidFill>
            <a:srgbClr val="4D79FF">
              <a:alpha val="20000"/>
            </a:srgbClr>
          </a:solidFill>
          <a:ln/>
        </p:spPr>
      </p:sp>
      <p:sp>
        <p:nvSpPr>
          <p:cNvPr id="37" name="Text 28"/>
          <p:cNvSpPr/>
          <p:nvPr/>
        </p:nvSpPr>
        <p:spPr>
          <a:xfrm>
            <a:off x="6818324" y="3625648"/>
            <a:ext cx="588623" cy="207236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Space Grotesk" pitchFamily="34" charset="-122"/>
                <a:cs typeface="Arial" panose="020B0604020202020204" pitchFamily="34" charset="0"/>
              </a:rPr>
              <a:t>train.py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29"/>
          <p:cNvSpPr/>
          <p:nvPr/>
        </p:nvSpPr>
        <p:spPr>
          <a:xfrm>
            <a:off x="6669723" y="3954261"/>
            <a:ext cx="885825" cy="267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b="1" dirty="0">
                <a:solidFill>
                  <a:srgbClr val="B0B0B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Loss 가중치 조절
모델 훈련 및 최적화</a:t>
            </a:r>
            <a:endParaRPr lang="en-US" sz="727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Shape 30"/>
          <p:cNvSpPr/>
          <p:nvPr/>
        </p:nvSpPr>
        <p:spPr>
          <a:xfrm>
            <a:off x="7990591" y="2946992"/>
            <a:ext cx="571500" cy="571500"/>
          </a:xfrm>
          <a:prstGeom prst="ellipse">
            <a:avLst/>
          </a:prstGeom>
          <a:solidFill>
            <a:srgbClr val="161E35"/>
          </a:solidFill>
          <a:ln w="18288">
            <a:solidFill>
              <a:srgbClr val="4D79FF"/>
            </a:solidFill>
            <a:prstDash val="solid"/>
          </a:ln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62041" y="3118442"/>
            <a:ext cx="228600" cy="228600"/>
          </a:xfrm>
          <a:prstGeom prst="rect">
            <a:avLst/>
          </a:prstGeom>
        </p:spPr>
      </p:pic>
      <p:sp>
        <p:nvSpPr>
          <p:cNvPr id="41" name="Shape 31"/>
          <p:cNvSpPr/>
          <p:nvPr/>
        </p:nvSpPr>
        <p:spPr>
          <a:xfrm>
            <a:off x="7840573" y="3625648"/>
            <a:ext cx="871538" cy="221456"/>
          </a:xfrm>
          <a:prstGeom prst="rect">
            <a:avLst/>
          </a:prstGeom>
          <a:solidFill>
            <a:srgbClr val="4D79FF">
              <a:alpha val="20000"/>
            </a:srgbClr>
          </a:solidFill>
          <a:ln/>
        </p:spPr>
      </p:sp>
      <p:sp>
        <p:nvSpPr>
          <p:cNvPr id="42" name="Text 32"/>
          <p:cNvSpPr/>
          <p:nvPr/>
        </p:nvSpPr>
        <p:spPr>
          <a:xfrm>
            <a:off x="7871423" y="3625648"/>
            <a:ext cx="809837" cy="207236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Space Grotesk" pitchFamily="34" charset="-122"/>
                <a:cs typeface="Arial" panose="020B0604020202020204" pitchFamily="34" charset="0"/>
              </a:rPr>
              <a:t>evaluate.py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33"/>
          <p:cNvSpPr/>
          <p:nvPr/>
        </p:nvSpPr>
        <p:spPr>
          <a:xfrm>
            <a:off x="7997735" y="3954261"/>
            <a:ext cx="557213" cy="267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b="1" dirty="0">
                <a:solidFill>
                  <a:srgbClr val="B0B0B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성능 검증 및
결과 시각화</a:t>
            </a:r>
            <a:endParaRPr lang="en-US" sz="727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514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571500" y="-111175"/>
            <a:ext cx="9144000" cy="10090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001911"/>
            <a:ext cx="9144000" cy="7144"/>
          </a:xfrm>
          <a:prstGeom prst="rect">
            <a:avLst/>
          </a:prstGeom>
          <a:solidFill>
            <a:srgbClr val="CAD7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357188"/>
            <a:ext cx="5554406" cy="4228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FFFFFF"/>
                </a:solidFill>
                <a:latin typeface="Arial Black" panose="020B0A04020102020204" pitchFamily="34" charset="0"/>
                <a:ea typeface="Space Grotesk" pitchFamily="34" charset="-122"/>
                <a:cs typeface="Space Grotesk" pitchFamily="34" charset="-120"/>
              </a:rPr>
              <a:t>1. 개발 개요: 데이터 수집 및 전처리</a:t>
            </a:r>
            <a:endParaRPr lang="en-US" sz="2649" dirty="0">
              <a:latin typeface="Arial Black" panose="020B0A040201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500" y="1372493"/>
            <a:ext cx="171522" cy="2821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4D79FF"/>
                </a:solidFill>
                <a:latin typeface="Arial Black" panose="020B0A04020102020204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00125" y="1372493"/>
            <a:ext cx="1016304" cy="228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수집 및 정제</a:t>
            </a:r>
            <a:endParaRPr lang="en-US" sz="1400" b="1" dirty="0">
              <a:latin typeface="Arial Black" panose="020B0A040201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00125" y="1699320"/>
            <a:ext cx="7572375" cy="391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다양한 특성</a:t>
            </a:r>
            <a:r>
              <a:rPr lang="en-US" altLang="ko-KR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ko-KR" alt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성별</a:t>
            </a:r>
            <a:r>
              <a:rPr lang="en-US" altLang="ko-KR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ko-KR" alt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연령대</a:t>
            </a:r>
            <a:r>
              <a:rPr lang="en-US" altLang="ko-KR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ko-KR" alt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헤어스타일</a:t>
            </a:r>
            <a:r>
              <a:rPr lang="en-US" altLang="ko-KR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ko-KR" alt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을 가진 </a:t>
            </a:r>
            <a:r>
              <a:rPr lang="en-US" altLang="ko-KR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ko-KR" alt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명의 연예인 선정</a:t>
            </a:r>
            <a:r>
              <a:rPr lang="en-US" altLang="ko-KR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인당 </a:t>
            </a:r>
            <a:r>
              <a:rPr lang="en-US" altLang="ko-KR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500</a:t>
            </a:r>
            <a:r>
              <a:rPr lang="ko-KR" alt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장 수집 후 중복</a:t>
            </a:r>
            <a:r>
              <a:rPr lang="en-US" altLang="ko-KR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ko-KR" altLang="en-US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저화질</a:t>
            </a:r>
            <a:r>
              <a:rPr lang="ko-KR" alt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제거</a:t>
            </a:r>
            <a:r>
              <a:rPr lang="en-US" altLang="ko-KR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ko-KR" altLang="en-US" sz="1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확실한</a:t>
            </a:r>
            <a:r>
              <a:rPr lang="ko-KR" altLang="en-US" sz="10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정답 </a:t>
            </a:r>
            <a:r>
              <a:rPr lang="ko-KR" alt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확보를 위해 표정</a:t>
            </a:r>
            <a:r>
              <a:rPr lang="en-US" altLang="ko-KR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(Smile/Neutral)</a:t>
            </a:r>
            <a:r>
              <a:rPr lang="en-US" altLang="ko-KR" sz="105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0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수동 </a:t>
            </a:r>
            <a:r>
              <a:rPr lang="ko-KR" altLang="en-US" sz="10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라벨링</a:t>
            </a:r>
            <a:r>
              <a:rPr lang="ko-KR" altLang="en-US" sz="10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수행</a:t>
            </a:r>
            <a:r>
              <a:rPr lang="en-US" altLang="ko-KR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71500" y="2285107"/>
            <a:ext cx="171522" cy="2821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4D79FF"/>
                </a:solidFill>
                <a:latin typeface="Arial Black" panose="020B0A04020102020204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00125" y="2285107"/>
            <a:ext cx="1428276" cy="23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kumimoji="0" lang="ko-KR" altLang="ko-KR" sz="1400" b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Stratified</a:t>
            </a:r>
            <a:r>
              <a:rPr kumimoji="0" lang="ko-KR" altLang="ko-KR" sz="1400" b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kumimoji="0" lang="ko-KR" altLang="ko-KR" sz="1400" b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Split</a:t>
            </a:r>
            <a:endParaRPr lang="en-US" sz="1400" b="1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00125" y="2611934"/>
            <a:ext cx="7922419" cy="186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데이터 누수(Data </a:t>
            </a:r>
            <a:r>
              <a:rPr kumimoji="0" lang="ko-KR" altLang="ko-KR" sz="10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Leakage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kumimoji="0" lang="ko-KR" altLang="ko-KR" sz="10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를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방지하기 위해 </a:t>
            </a:r>
            <a:r>
              <a:rPr kumimoji="0" lang="ko-KR" altLang="ko-KR" sz="10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크롭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전 원본 상태에서 </a:t>
            </a:r>
            <a:r>
              <a:rPr kumimoji="0" lang="ko-KR" altLang="ko-KR" sz="105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celeb+smile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복합 키를 기반으로 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8:1:1 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0" lang="ko-KR" altLang="ko-KR" sz="10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Train:Val:Test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분할.</a:t>
            </a:r>
            <a:endParaRPr 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71500" y="3197721"/>
            <a:ext cx="171522" cy="2821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4D79FF"/>
                </a:solidFill>
                <a:latin typeface="Arial Black" panose="020B0A04020102020204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00125" y="3197721"/>
            <a:ext cx="2404761" cy="228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altLang="ko-KR" sz="1400" b="1" dirty="0">
                <a:solidFill>
                  <a:schemeClr val="bg1"/>
                </a:solidFill>
                <a:latin typeface="Arial Black" panose="020B0A04020102020204" pitchFamily="34" charset="0"/>
              </a:rPr>
              <a:t>MTCNN </a:t>
            </a:r>
            <a:r>
              <a:rPr lang="ko-KR" altLang="en-US" sz="1400" b="1" dirty="0">
                <a:solidFill>
                  <a:schemeClr val="bg1"/>
                </a:solidFill>
                <a:latin typeface="Arial Black" panose="020B0A04020102020204" pitchFamily="34" charset="0"/>
              </a:rPr>
              <a:t>얼굴 추출 핵심 로직</a:t>
            </a:r>
            <a:endParaRPr lang="en-US" sz="1400" b="1" dirty="0">
              <a:latin typeface="Arial Black" panose="020B0A040201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000125" y="3524548"/>
            <a:ext cx="7143750" cy="323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ko-KR" sz="10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Padding</a:t>
            </a:r>
            <a:r>
              <a:rPr lang="en-US" altLang="ko-KR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20~30%:</a:t>
            </a:r>
            <a:r>
              <a:rPr lang="ko-KR" alt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타이트한 </a:t>
            </a:r>
            <a:r>
              <a:rPr lang="ko-KR" altLang="en-US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크롭으로</a:t>
            </a:r>
            <a:r>
              <a:rPr lang="ko-KR" alt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귀</a:t>
            </a:r>
            <a:r>
              <a:rPr lang="en-US" altLang="ko-KR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이마</a:t>
            </a:r>
            <a:r>
              <a:rPr lang="en-US" altLang="ko-KR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턱선</a:t>
            </a:r>
            <a:r>
              <a:rPr lang="ko-KR" alt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특징이 소실되는 것을 방지</a:t>
            </a:r>
            <a:r>
              <a:rPr lang="en-US" altLang="ko-KR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altLang="ko-KR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Area Ratio </a:t>
            </a:r>
            <a:r>
              <a:rPr lang="ko-KR" altLang="en-US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제어</a:t>
            </a:r>
            <a:r>
              <a:rPr lang="en-US" altLang="ko-KR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kumimoji="0" lang="ko-KR" altLang="ko-KR" sz="105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얼굴 면적 </a:t>
            </a:r>
            <a:r>
              <a:rPr lang="en-US" altLang="ko-KR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ko-KR" alt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전체 이미지 면적 </a:t>
            </a:r>
            <a:r>
              <a:rPr lang="en-US" altLang="ko-KR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&gt;= 0.3 </a:t>
            </a:r>
            <a:r>
              <a:rPr lang="ko-KR" alt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조건을 설정하여 </a:t>
            </a:r>
            <a:r>
              <a:rPr lang="ko-KR" altLang="en-US" sz="10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배경 편향</a:t>
            </a:r>
            <a:r>
              <a:rPr lang="en-US" altLang="ko-KR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(Background Bias) </a:t>
            </a:r>
            <a:r>
              <a:rPr lang="ko-KR" alt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사전 차단</a:t>
            </a:r>
            <a:r>
              <a:rPr lang="en-US" altLang="ko-KR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n-US" altLang="ko-KR" sz="105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71500" y="4110335"/>
            <a:ext cx="171522" cy="2821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4D79FF"/>
                </a:solidFill>
                <a:latin typeface="Arial Black" panose="020B0A04020102020204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000125" y="4110335"/>
            <a:ext cx="956993" cy="228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데이터 증강</a:t>
            </a:r>
            <a:endParaRPr lang="en-US" sz="1400" b="1" dirty="0">
              <a:latin typeface="Arial Black" panose="020B0A040201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000125" y="4437162"/>
            <a:ext cx="7572375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kumimoji="0" lang="ko-KR" altLang="ko-KR" sz="10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Train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데이터셋에 한하여 </a:t>
            </a:r>
            <a:r>
              <a:rPr kumimoji="0" lang="ko-KR" altLang="ko-KR" sz="105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HorizontalFlip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및 </a:t>
            </a:r>
            <a:r>
              <a:rPr kumimoji="0" lang="ko-KR" altLang="ko-KR" sz="105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ColorJitter를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ko-KR" altLang="ko-KR" sz="105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On-the-fly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방식으로 적용해 데이터 다양성 확보.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3761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30473"/>
            <a:ext cx="9144000" cy="7144"/>
          </a:xfrm>
          <a:prstGeom prst="rect">
            <a:avLst/>
          </a:prstGeom>
          <a:solidFill>
            <a:srgbClr val="CAD7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357188"/>
            <a:ext cx="3627596" cy="4228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FFFFFF"/>
                </a:solidFill>
                <a:latin typeface="Arial Black" panose="020B0A04020102020204" pitchFamily="34" charset="0"/>
                <a:ea typeface="Space Grotesk" pitchFamily="34" charset="-122"/>
                <a:cs typeface="Space Grotesk" pitchFamily="34" charset="-120"/>
              </a:rPr>
              <a:t>1. 개발 개요: 모델 구조</a:t>
            </a:r>
            <a:endParaRPr lang="en-US" sz="2649" dirty="0">
              <a:latin typeface="Arial Black" panose="020B0A040201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28625" y="1368558"/>
            <a:ext cx="366926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chemeClr val="accent1"/>
                </a:solidFill>
                <a:latin typeface="Arial Black" panose="020B0A04020102020204" pitchFamily="34" charset="0"/>
                <a:ea typeface="Inter" pitchFamily="34" charset="-122"/>
                <a:cs typeface="Arial" panose="020B0604020202020204" pitchFamily="34" charset="0"/>
              </a:rPr>
              <a:t>[구조 </a:t>
            </a:r>
            <a:r>
              <a:rPr lang="en-US" sz="1400" dirty="0" err="1">
                <a:solidFill>
                  <a:schemeClr val="accent1"/>
                </a:solidFill>
                <a:latin typeface="Arial Black" panose="020B0A04020102020204" pitchFamily="34" charset="0"/>
                <a:ea typeface="Inter" pitchFamily="34" charset="-122"/>
                <a:cs typeface="Arial" panose="020B0604020202020204" pitchFamily="34" charset="0"/>
              </a:rPr>
              <a:t>설계</a:t>
            </a:r>
            <a:r>
              <a:rPr lang="en-US" sz="1400" dirty="0">
                <a:solidFill>
                  <a:schemeClr val="accent1"/>
                </a:solidFill>
                <a:latin typeface="Arial Black" panose="020B0A04020102020204" pitchFamily="34" charset="0"/>
                <a:ea typeface="Inter" pitchFamily="34" charset="-122"/>
                <a:cs typeface="Arial" panose="020B0604020202020204" pitchFamily="34" charset="0"/>
              </a:rPr>
              <a:t>]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269" b="1" dirty="0">
                <a:solidFill>
                  <a:schemeClr val="accent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193" dirty="0">
                <a:solidFill>
                  <a:srgbClr val="4D79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ResNet18</a:t>
            </a:r>
            <a:r>
              <a:rPr lang="en-US" sz="1269" dirty="0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을 Feature Extractor(Backbone)로 사용하고, 마지막 출력층(FC Layer)을 2개의 </a:t>
            </a:r>
            <a:r>
              <a:rPr lang="en-US" sz="1269" dirty="0" err="1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Head로</a:t>
            </a:r>
            <a:endParaRPr lang="en-US" sz="1269" dirty="0">
              <a:solidFill>
                <a:srgbClr val="E0E0E0"/>
              </a:solidFill>
              <a:latin typeface="Arial" panose="020B0604020202020204" pitchFamily="34" charset="0"/>
              <a:ea typeface="Inter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000"/>
              </a:lnSpc>
              <a:buNone/>
            </a:pPr>
            <a:r>
              <a:rPr lang="en-US" sz="1269" dirty="0" err="1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분리한</a:t>
            </a:r>
            <a:r>
              <a:rPr lang="en-US" sz="1269" dirty="0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193" b="1" dirty="0">
                <a:solidFill>
                  <a:srgbClr val="4D79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Multi-Task Learning</a:t>
            </a:r>
            <a:r>
              <a:rPr lang="en-US" sz="1269" dirty="0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아키텍처 도입.</a:t>
            </a:r>
            <a:endParaRPr lang="en-US" sz="126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28625" y="2525846"/>
            <a:ext cx="689291" cy="2299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D79FF"/>
                </a:solidFill>
                <a:latin typeface="Arial Black" panose="020B0A04020102020204" pitchFamily="34" charset="0"/>
                <a:ea typeface="Space Grotesk" pitchFamily="34" charset="-122"/>
                <a:cs typeface="Space Grotesk" pitchFamily="34" charset="-120"/>
              </a:rPr>
              <a:t>Head 1</a:t>
            </a:r>
            <a:endParaRPr lang="en-US" sz="1397" dirty="0">
              <a:latin typeface="Arial Black" panose="020B0A040201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28625" y="2816954"/>
            <a:ext cx="366926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연예인 8개 클래스 분류 로직 담당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28625" y="3066985"/>
            <a:ext cx="689291" cy="2299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D79FF"/>
                </a:solidFill>
                <a:latin typeface="Arial Black" panose="020B0A04020102020204" pitchFamily="34" charset="0"/>
                <a:ea typeface="Space Grotesk" pitchFamily="34" charset="-122"/>
                <a:cs typeface="Space Grotesk" pitchFamily="34" charset="-120"/>
              </a:rPr>
              <a:t>Head 2</a:t>
            </a:r>
            <a:endParaRPr lang="en-US" sz="1397" dirty="0">
              <a:latin typeface="Arial Black" panose="020B0A040201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28625" y="3358093"/>
            <a:ext cx="366926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표정 2개 클래스 분류 로직 담당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8625" y="3708136"/>
            <a:ext cx="3669264" cy="997251"/>
          </a:xfrm>
          <a:prstGeom prst="rect">
            <a:avLst/>
          </a:prstGeom>
          <a:solidFill>
            <a:srgbClr val="4D79FF">
              <a:alpha val="10000"/>
            </a:srgbClr>
          </a:solidFill>
          <a:ln w="9144">
            <a:solidFill>
              <a:srgbClr val="4D79FF">
                <a:alpha val="3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4350" y="3801005"/>
            <a:ext cx="3497814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4D79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Loss Function 최적화</a:t>
            </a:r>
            <a:endParaRPr lang="en-US" sz="1090" dirty="0"/>
          </a:p>
        </p:txBody>
      </p:sp>
      <p:sp>
        <p:nvSpPr>
          <p:cNvPr id="13" name="Text 10"/>
          <p:cNvSpPr/>
          <p:nvPr/>
        </p:nvSpPr>
        <p:spPr>
          <a:xfrm>
            <a:off x="514350" y="4132827"/>
            <a:ext cx="3345954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Total Loss = α × Loss_celeb + β × Loss_smile</a:t>
            </a:r>
            <a:endParaRPr lang="en-US" sz="1159" dirty="0"/>
          </a:p>
        </p:txBody>
      </p:sp>
      <p:sp>
        <p:nvSpPr>
          <p:cNvPr id="14" name="Text 11"/>
          <p:cNvSpPr/>
          <p:nvPr/>
        </p:nvSpPr>
        <p:spPr>
          <a:xfrm>
            <a:off x="514350" y="4412856"/>
            <a:ext cx="159492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(최종 적용: α = 1.0, β = 0.5)</a:t>
            </a:r>
            <a:endParaRPr lang="en-US" sz="942" dirty="0"/>
          </a:p>
        </p:txBody>
      </p:sp>
      <p:sp>
        <p:nvSpPr>
          <p:cNvPr id="15" name="Shape 12"/>
          <p:cNvSpPr/>
          <p:nvPr/>
        </p:nvSpPr>
        <p:spPr>
          <a:xfrm>
            <a:off x="4312202" y="1050159"/>
            <a:ext cx="4403173" cy="3964753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4D79FF">
                <a:alpha val="20000"/>
              </a:srgbClr>
            </a:solidFill>
            <a:prstDash val="solid"/>
          </a:ln>
        </p:spPr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37D4AA0-1334-03AE-CD14-C52060B689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5889" y="1061042"/>
            <a:ext cx="5345260" cy="38975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90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001911"/>
            <a:ext cx="9144000" cy="7144"/>
          </a:xfrm>
          <a:prstGeom prst="rect">
            <a:avLst/>
          </a:prstGeom>
          <a:solidFill>
            <a:srgbClr val="CAD7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357188"/>
            <a:ext cx="6796732" cy="4228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FFFFFF"/>
                </a:solidFill>
                <a:latin typeface="Arial Black" panose="020B0A04020102020204" pitchFamily="34" charset="0"/>
                <a:ea typeface="Space Grotesk" pitchFamily="34" charset="-122"/>
                <a:cs typeface="Arial" panose="020B0604020202020204" pitchFamily="34" charset="0"/>
              </a:rPr>
              <a:t>1. 개발 개요: 훈련 전략 (Loss 가중치 실험)</a:t>
            </a:r>
            <a:endParaRPr lang="en-US" sz="2649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71500" y="1297071"/>
            <a:ext cx="8001000" cy="1710928"/>
          </a:xfrm>
          <a:prstGeom prst="rect">
            <a:avLst/>
          </a:prstGeom>
          <a:solidFill>
            <a:srgbClr val="161E35">
              <a:alpha val="10000"/>
            </a:srgbClr>
          </a:solidFill>
          <a:ln w="9144">
            <a:solidFill>
              <a:srgbClr val="4D7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71500" y="1287661"/>
            <a:ext cx="751517" cy="450056"/>
          </a:xfrm>
          <a:prstGeom prst="rect">
            <a:avLst/>
          </a:prstGeom>
          <a:solidFill>
            <a:srgbClr val="4D79FF">
              <a:alpha val="2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730573"/>
            <a:ext cx="751517" cy="7144"/>
          </a:xfrm>
          <a:prstGeom prst="rect">
            <a:avLst/>
          </a:prstGeom>
          <a:solidFill>
            <a:srgbClr val="CAD7FF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1287661"/>
            <a:ext cx="751517" cy="45005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D79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실험</a:t>
            </a:r>
            <a:endParaRPr lang="en-US" sz="1193" dirty="0"/>
          </a:p>
        </p:txBody>
      </p:sp>
      <p:sp>
        <p:nvSpPr>
          <p:cNvPr id="10" name="Shape 7"/>
          <p:cNvSpPr/>
          <p:nvPr/>
        </p:nvSpPr>
        <p:spPr>
          <a:xfrm>
            <a:off x="1323017" y="1287661"/>
            <a:ext cx="1286321" cy="450056"/>
          </a:xfrm>
          <a:prstGeom prst="rect">
            <a:avLst/>
          </a:prstGeom>
          <a:solidFill>
            <a:srgbClr val="4D79FF">
              <a:alpha val="2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323017" y="1730573"/>
            <a:ext cx="1286321" cy="7144"/>
          </a:xfrm>
          <a:prstGeom prst="rect">
            <a:avLst/>
          </a:prstGeom>
          <a:solidFill>
            <a:srgbClr val="CAD7FF"/>
          </a:solidFill>
          <a:ln/>
        </p:spPr>
      </p:sp>
      <p:sp>
        <p:nvSpPr>
          <p:cNvPr id="12" name="Text 9"/>
          <p:cNvSpPr/>
          <p:nvPr/>
        </p:nvSpPr>
        <p:spPr>
          <a:xfrm>
            <a:off x="1323017" y="1287661"/>
            <a:ext cx="1286321" cy="45005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D79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α (alpha)</a:t>
            </a:r>
            <a:endParaRPr lang="en-US" sz="1193" dirty="0"/>
          </a:p>
        </p:txBody>
      </p:sp>
      <p:sp>
        <p:nvSpPr>
          <p:cNvPr id="13" name="Shape 10"/>
          <p:cNvSpPr/>
          <p:nvPr/>
        </p:nvSpPr>
        <p:spPr>
          <a:xfrm>
            <a:off x="2609338" y="1287661"/>
            <a:ext cx="1181705" cy="450056"/>
          </a:xfrm>
          <a:prstGeom prst="rect">
            <a:avLst/>
          </a:prstGeom>
          <a:solidFill>
            <a:srgbClr val="4D79FF">
              <a:alpha val="20000"/>
            </a:srgbClr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4" name="Shape 11"/>
          <p:cNvSpPr/>
          <p:nvPr/>
        </p:nvSpPr>
        <p:spPr>
          <a:xfrm>
            <a:off x="2609338" y="1730573"/>
            <a:ext cx="1181705" cy="7144"/>
          </a:xfrm>
          <a:prstGeom prst="rect">
            <a:avLst/>
          </a:prstGeom>
          <a:solidFill>
            <a:srgbClr val="CAD7FF"/>
          </a:solidFill>
          <a:ln/>
        </p:spPr>
      </p:sp>
      <p:sp>
        <p:nvSpPr>
          <p:cNvPr id="15" name="Text 12"/>
          <p:cNvSpPr/>
          <p:nvPr/>
        </p:nvSpPr>
        <p:spPr>
          <a:xfrm>
            <a:off x="2609338" y="1287661"/>
            <a:ext cx="1181705" cy="45005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D79FF"/>
                </a:solidFill>
                <a:latin typeface="Arial" panose="020B0604020202020204" pitchFamily="34" charset="0"/>
                <a:ea typeface="Space Grotesk" pitchFamily="34" charset="-122"/>
                <a:cs typeface="Arial" panose="020B0604020202020204" pitchFamily="34" charset="0"/>
              </a:rPr>
              <a:t>β (beta)</a:t>
            </a:r>
            <a:endParaRPr lang="en-US" sz="119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791043" y="1287661"/>
            <a:ext cx="1734313" cy="450056"/>
          </a:xfrm>
          <a:prstGeom prst="rect">
            <a:avLst/>
          </a:prstGeom>
          <a:solidFill>
            <a:srgbClr val="4D79FF">
              <a:alpha val="2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3791043" y="1730573"/>
            <a:ext cx="1734313" cy="7144"/>
          </a:xfrm>
          <a:prstGeom prst="rect">
            <a:avLst/>
          </a:prstGeom>
          <a:solidFill>
            <a:srgbClr val="CAD7FF"/>
          </a:solidFill>
          <a:ln/>
        </p:spPr>
      </p:sp>
      <p:sp>
        <p:nvSpPr>
          <p:cNvPr id="18" name="Text 15"/>
          <p:cNvSpPr/>
          <p:nvPr/>
        </p:nvSpPr>
        <p:spPr>
          <a:xfrm>
            <a:off x="3791043" y="1287661"/>
            <a:ext cx="1734313" cy="45005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D79FF"/>
                </a:solidFill>
                <a:latin typeface="Arial" panose="020B0604020202020204" pitchFamily="34" charset="0"/>
                <a:ea typeface="Space Grotesk" pitchFamily="34" charset="-122"/>
                <a:cs typeface="Arial" panose="020B0604020202020204" pitchFamily="34" charset="0"/>
              </a:rPr>
              <a:t>연예인 정확도</a:t>
            </a:r>
            <a:endParaRPr lang="en-US" sz="119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525356" y="1287661"/>
            <a:ext cx="1503062" cy="450056"/>
          </a:xfrm>
          <a:prstGeom prst="rect">
            <a:avLst/>
          </a:prstGeom>
          <a:solidFill>
            <a:srgbClr val="4D79FF">
              <a:alpha val="2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5525356" y="1730573"/>
            <a:ext cx="1503062" cy="7144"/>
          </a:xfrm>
          <a:prstGeom prst="rect">
            <a:avLst/>
          </a:prstGeom>
          <a:solidFill>
            <a:srgbClr val="CAD7FF"/>
          </a:solidFill>
          <a:ln/>
        </p:spPr>
      </p:sp>
      <p:sp>
        <p:nvSpPr>
          <p:cNvPr id="21" name="Text 18"/>
          <p:cNvSpPr/>
          <p:nvPr/>
        </p:nvSpPr>
        <p:spPr>
          <a:xfrm>
            <a:off x="5525356" y="1287661"/>
            <a:ext cx="1503062" cy="45005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D79FF"/>
                </a:solidFill>
                <a:latin typeface="Arial" panose="020B0604020202020204" pitchFamily="34" charset="0"/>
                <a:ea typeface="Space Grotesk" pitchFamily="34" charset="-122"/>
                <a:cs typeface="Arial" panose="020B0604020202020204" pitchFamily="34" charset="0"/>
              </a:rPr>
              <a:t>표정 정확도</a:t>
            </a:r>
            <a:endParaRPr lang="en-US" sz="119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7028418" y="1287661"/>
            <a:ext cx="792482" cy="450056"/>
          </a:xfrm>
          <a:prstGeom prst="rect">
            <a:avLst/>
          </a:prstGeom>
          <a:solidFill>
            <a:srgbClr val="4D79FF">
              <a:alpha val="20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7028418" y="1730573"/>
            <a:ext cx="792482" cy="7144"/>
          </a:xfrm>
          <a:prstGeom prst="rect">
            <a:avLst/>
          </a:prstGeom>
          <a:solidFill>
            <a:srgbClr val="CAD7FF"/>
          </a:solidFill>
          <a:ln/>
        </p:spPr>
      </p:sp>
      <p:sp>
        <p:nvSpPr>
          <p:cNvPr id="24" name="Text 21"/>
          <p:cNvSpPr/>
          <p:nvPr/>
        </p:nvSpPr>
        <p:spPr>
          <a:xfrm>
            <a:off x="7028418" y="1287661"/>
            <a:ext cx="792482" cy="45005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D79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총점</a:t>
            </a:r>
            <a:endParaRPr lang="en-US" sz="1193" dirty="0"/>
          </a:p>
        </p:txBody>
      </p:sp>
      <p:sp>
        <p:nvSpPr>
          <p:cNvPr id="25" name="Shape 22"/>
          <p:cNvSpPr/>
          <p:nvPr/>
        </p:nvSpPr>
        <p:spPr>
          <a:xfrm>
            <a:off x="7820899" y="1287661"/>
            <a:ext cx="751601" cy="450056"/>
          </a:xfrm>
          <a:prstGeom prst="rect">
            <a:avLst/>
          </a:prstGeom>
          <a:solidFill>
            <a:srgbClr val="4D79FF">
              <a:alpha val="20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7820899" y="1730573"/>
            <a:ext cx="751601" cy="7144"/>
          </a:xfrm>
          <a:prstGeom prst="rect">
            <a:avLst/>
          </a:prstGeom>
          <a:solidFill>
            <a:srgbClr val="CAD7FF"/>
          </a:solidFill>
          <a:ln/>
        </p:spPr>
      </p:sp>
      <p:sp>
        <p:nvSpPr>
          <p:cNvPr id="27" name="Text 24"/>
          <p:cNvSpPr/>
          <p:nvPr/>
        </p:nvSpPr>
        <p:spPr>
          <a:xfrm>
            <a:off x="7820899" y="1287661"/>
            <a:ext cx="751601" cy="45005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D79FF"/>
                </a:solidFill>
                <a:latin typeface="Arial" panose="020B0604020202020204" pitchFamily="34" charset="0"/>
                <a:ea typeface="Space Grotesk" pitchFamily="34" charset="-122"/>
                <a:cs typeface="Arial" panose="020B0604020202020204" pitchFamily="34" charset="0"/>
              </a:rPr>
              <a:t>채택</a:t>
            </a:r>
            <a:endParaRPr lang="en-US" sz="119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571500" y="1734145"/>
            <a:ext cx="8001000" cy="410766"/>
          </a:xfrm>
          <a:prstGeom prst="rect">
            <a:avLst/>
          </a:prstGeom>
          <a:solidFill>
            <a:srgbClr val="4D79FF">
              <a:alpha val="15000"/>
            </a:srgbClr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29" name="Text 26"/>
          <p:cNvSpPr/>
          <p:nvPr/>
        </p:nvSpPr>
        <p:spPr>
          <a:xfrm>
            <a:off x="571500" y="1729182"/>
            <a:ext cx="751517" cy="42069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1차</a:t>
            </a:r>
            <a:endParaRPr lang="en-US" sz="98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1323017" y="1729054"/>
            <a:ext cx="1286321" cy="42094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1.0</a:t>
            </a:r>
            <a:endParaRPr lang="en-US" sz="98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2609338" y="1729054"/>
            <a:ext cx="1181705" cy="42094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0.5</a:t>
            </a:r>
            <a:endParaRPr lang="en-US" sz="98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3791043" y="1721007"/>
            <a:ext cx="1734313" cy="43704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85.4</a:t>
            </a: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%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5525356" y="1729054"/>
            <a:ext cx="1503062" cy="42094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80.4%</a:t>
            </a:r>
            <a:endParaRPr lang="en-US" sz="98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7028418" y="1729054"/>
            <a:ext cx="792482" cy="42094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1.658</a:t>
            </a:r>
            <a:endParaRPr lang="en-US" sz="98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975" y="1845766"/>
            <a:ext cx="171450" cy="17145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71500" y="2140804"/>
            <a:ext cx="751517" cy="42255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2차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3"/>
          <p:cNvSpPr/>
          <p:nvPr/>
        </p:nvSpPr>
        <p:spPr>
          <a:xfrm>
            <a:off x="1323017" y="2140676"/>
            <a:ext cx="1286321" cy="42280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1.0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34"/>
          <p:cNvSpPr/>
          <p:nvPr/>
        </p:nvSpPr>
        <p:spPr>
          <a:xfrm>
            <a:off x="2609338" y="2140676"/>
            <a:ext cx="1181705" cy="42280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1.0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5"/>
          <p:cNvSpPr/>
          <p:nvPr/>
        </p:nvSpPr>
        <p:spPr>
          <a:xfrm>
            <a:off x="3791043" y="2140676"/>
            <a:ext cx="1734313" cy="42280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83.5%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6"/>
          <p:cNvSpPr/>
          <p:nvPr/>
        </p:nvSpPr>
        <p:spPr>
          <a:xfrm>
            <a:off x="5525356" y="2140676"/>
            <a:ext cx="1503062" cy="42280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82.3%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37"/>
          <p:cNvSpPr/>
          <p:nvPr/>
        </p:nvSpPr>
        <p:spPr>
          <a:xfrm>
            <a:off x="7028418" y="2140676"/>
            <a:ext cx="792482" cy="42280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1.658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38"/>
          <p:cNvSpPr/>
          <p:nvPr/>
        </p:nvSpPr>
        <p:spPr>
          <a:xfrm>
            <a:off x="7820899" y="2144911"/>
            <a:ext cx="751601" cy="41433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571500" y="2555141"/>
            <a:ext cx="751517" cy="42255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3차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40"/>
          <p:cNvSpPr/>
          <p:nvPr/>
        </p:nvSpPr>
        <p:spPr>
          <a:xfrm>
            <a:off x="1323017" y="2555013"/>
            <a:ext cx="1286321" cy="42280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1.0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41"/>
          <p:cNvSpPr/>
          <p:nvPr/>
        </p:nvSpPr>
        <p:spPr>
          <a:xfrm>
            <a:off x="2609338" y="2555013"/>
            <a:ext cx="1181705" cy="42280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1.5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42"/>
          <p:cNvSpPr/>
          <p:nvPr/>
        </p:nvSpPr>
        <p:spPr>
          <a:xfrm>
            <a:off x="3791043" y="2555013"/>
            <a:ext cx="1734313" cy="42280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80.4%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 43"/>
          <p:cNvSpPr/>
          <p:nvPr/>
        </p:nvSpPr>
        <p:spPr>
          <a:xfrm>
            <a:off x="5525356" y="2555013"/>
            <a:ext cx="1503062" cy="42280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81.7%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44"/>
          <p:cNvSpPr/>
          <p:nvPr/>
        </p:nvSpPr>
        <p:spPr>
          <a:xfrm>
            <a:off x="7028418" y="2555013"/>
            <a:ext cx="792482" cy="42280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1.620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45"/>
          <p:cNvSpPr/>
          <p:nvPr/>
        </p:nvSpPr>
        <p:spPr>
          <a:xfrm>
            <a:off x="7820899" y="2555013"/>
            <a:ext cx="751601" cy="42280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-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 48"/>
          <p:cNvSpPr/>
          <p:nvPr/>
        </p:nvSpPr>
        <p:spPr>
          <a:xfrm>
            <a:off x="4714875" y="3262908"/>
            <a:ext cx="1990930" cy="2282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D79FF"/>
                </a:solidFill>
                <a:latin typeface="Arial Black" panose="020B0A04020102020204" pitchFamily="34" charset="0"/>
                <a:ea typeface="Space Grotesk" pitchFamily="34" charset="-122"/>
                <a:cs typeface="Space Grotesk" pitchFamily="34" charset="-120"/>
              </a:rPr>
              <a:t>[실험 결과 및 채택 사유]</a:t>
            </a:r>
            <a:endParaRPr lang="en-US" sz="1397" dirty="0">
              <a:latin typeface="Arial Black" panose="020B0A04020102020204" pitchFamily="34" charset="0"/>
            </a:endParaRPr>
          </a:p>
        </p:txBody>
      </p:sp>
      <p:sp>
        <p:nvSpPr>
          <p:cNvPr id="53" name="Text 49"/>
          <p:cNvSpPr/>
          <p:nvPr/>
        </p:nvSpPr>
        <p:spPr>
          <a:xfrm>
            <a:off x="4714875" y="3639741"/>
            <a:ext cx="385762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• 1차(β=0.5)와 2차(β=1.0)의 전체 총점이 1.658로 유사
• β=0.5 적용 시 </a:t>
            </a:r>
            <a:r>
              <a:rPr lang="en-US" sz="987" b="1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인물 인식 정확도 85.4%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로 가장 높게 측정
• 표정 Loss 반영 비율을 낮춤으로써 두 테스크 간 학습 밸런스가 가장 안정적으로 유지</a:t>
            </a:r>
            <a:r>
              <a:rPr lang="en-US" sz="1050" dirty="0">
                <a:solidFill>
                  <a:srgbClr val="B0B0B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
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• 최종: </a:t>
            </a:r>
            <a:r>
              <a:rPr lang="en-US" sz="987" b="1" dirty="0">
                <a:solidFill>
                  <a:srgbClr val="00FFCC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1차 실험 채택 ✅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C9F50249-1AA5-D6F9-F043-7DB7021521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417" y="3150392"/>
            <a:ext cx="4200525" cy="17502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740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90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001911"/>
            <a:ext cx="9144000" cy="7144"/>
          </a:xfrm>
          <a:prstGeom prst="rect">
            <a:avLst/>
          </a:prstGeom>
          <a:solidFill>
            <a:srgbClr val="CAD7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357188"/>
            <a:ext cx="5666616" cy="4228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FFFFFF"/>
                </a:solidFill>
                <a:latin typeface="Arial Black" panose="020B0A04020102020204" pitchFamily="34" charset="0"/>
                <a:ea typeface="Space Grotesk" pitchFamily="34" charset="-122"/>
                <a:cs typeface="Space Grotesk" pitchFamily="34" charset="-120"/>
              </a:rPr>
              <a:t>2. 사용설명서: 4단계 자동 분류 로직</a:t>
            </a:r>
            <a:endParaRPr lang="en-US" sz="2649" dirty="0">
              <a:latin typeface="Arial Black" panose="020B0A040201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71500" y="1287661"/>
            <a:ext cx="8001000" cy="920093"/>
          </a:xfrm>
          <a:prstGeom prst="rect">
            <a:avLst/>
          </a:prstGeom>
          <a:solidFill>
            <a:srgbClr val="4D79FF">
              <a:alpha val="10000"/>
            </a:srgbClr>
          </a:solidFill>
          <a:ln w="9144">
            <a:solidFill>
              <a:srgbClr val="4D79FF">
                <a:alpha val="3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287661"/>
            <a:ext cx="8001000" cy="964367"/>
          </a:xfrm>
          <a:prstGeom prst="rect">
            <a:avLst/>
          </a:prstGeom>
          <a:noFill/>
          <a:ln/>
        </p:spPr>
        <p:txBody>
          <a:bodyPr wrap="square" lIns="340233" tIns="212598" rIns="340233" bIns="212598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E0E0E0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• </a:t>
            </a:r>
            <a:r>
              <a:rPr lang="en-US" sz="1400" b="1" dirty="0">
                <a:solidFill>
                  <a:srgbClr val="4D79FF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evaluate.py</a:t>
            </a:r>
            <a:r>
              <a:rPr lang="en-US" sz="1600" dirty="0">
                <a:solidFill>
                  <a:srgbClr val="E0E0E0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69" dirty="0">
                <a:solidFill>
                  <a:srgbClr val="E0E0E0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실행 시 </a:t>
            </a:r>
            <a:r>
              <a:rPr lang="en-US" sz="1269" dirty="0">
                <a:solidFill>
                  <a:schemeClr val="accent1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AI</a:t>
            </a:r>
            <a:r>
              <a:rPr lang="en-US" sz="1269" dirty="0">
                <a:solidFill>
                  <a:srgbClr val="E0E0E0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예측 결과에 따라 테스터 이미지가 자동 분류되어 저장
• 오탐 원인을 직관적으로 파악 가능</a:t>
            </a:r>
            <a:endParaRPr lang="en-US" sz="1269" dirty="0">
              <a:latin typeface="Arial Black" panose="020B0A040201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71500" y="2479216"/>
            <a:ext cx="3893344" cy="107334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4D79FF">
                <a:alpha val="2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5813" y="2693529"/>
            <a:ext cx="1255921" cy="2657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4D79FF"/>
                </a:solidFill>
                <a:latin typeface="Arial Black" panose="020B0A04020102020204" pitchFamily="34" charset="0"/>
                <a:ea typeface="Space Grotesk" pitchFamily="34" charset="-122"/>
                <a:cs typeface="Space Grotesk" pitchFamily="34" charset="-120"/>
              </a:rPr>
              <a:t>All_Correct</a:t>
            </a:r>
            <a:endParaRPr lang="en-US" sz="1602" dirty="0">
              <a:latin typeface="Arial Black" panose="020B0A040201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85813" y="3091793"/>
            <a:ext cx="1468351" cy="2000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210 옴니고딕 025" panose="02020603020101020101" pitchFamily="18" charset="-127"/>
                <a:cs typeface="Arial" panose="020B0604020202020204" pitchFamily="34" charset="0"/>
              </a:rPr>
              <a:t>이름 </a:t>
            </a:r>
            <a:r>
              <a:rPr lang="en-US" sz="1200" b="1" dirty="0">
                <a:solidFill>
                  <a:srgbClr val="4D79FF"/>
                </a:solidFill>
                <a:latin typeface="Arial" panose="020B0604020202020204" pitchFamily="34" charset="0"/>
                <a:ea typeface="210 옴니고딕 025" panose="02020603020101020101" pitchFamily="18" charset="-127"/>
                <a:cs typeface="Arial" panose="020B0604020202020204" pitchFamily="34" charset="0"/>
              </a:rPr>
              <a:t>정답</a:t>
            </a: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210 옴니고딕 025" panose="02020603020101020101" pitchFamily="18" charset="-127"/>
                <a:cs typeface="Arial" panose="020B0604020202020204" pitchFamily="34" charset="0"/>
              </a:rPr>
              <a:t> &amp; 표정 </a:t>
            </a:r>
            <a:r>
              <a:rPr lang="en-US" sz="1200" b="1" dirty="0">
                <a:solidFill>
                  <a:srgbClr val="4D79FF"/>
                </a:solidFill>
                <a:latin typeface="Arial" panose="020B0604020202020204" pitchFamily="34" charset="0"/>
                <a:ea typeface="210 옴니고딕 025" panose="02020603020101020101" pitchFamily="18" charset="-127"/>
                <a:cs typeface="Arial" panose="020B0604020202020204" pitchFamily="34" charset="0"/>
              </a:rPr>
              <a:t>정답</a:t>
            </a:r>
            <a:endParaRPr lang="en-US" sz="1200" dirty="0">
              <a:latin typeface="Arial" panose="020B0604020202020204" pitchFamily="34" charset="0"/>
              <a:ea typeface="210 옴니고딕 025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679156" y="2479216"/>
            <a:ext cx="3893344" cy="107334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4D79FF">
                <a:alpha val="2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93469" y="2693529"/>
            <a:ext cx="1460464" cy="2657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4D79FF"/>
                </a:solidFill>
                <a:latin typeface="Arial Black" panose="020B0A04020102020204" pitchFamily="34" charset="0"/>
                <a:ea typeface="Space Grotesk" pitchFamily="34" charset="-122"/>
                <a:cs typeface="Space Grotesk" pitchFamily="34" charset="-120"/>
              </a:rPr>
              <a:t>Wrong_Name</a:t>
            </a:r>
            <a:endParaRPr lang="en-US" sz="1602" dirty="0">
              <a:latin typeface="Arial Black" panose="020B0A040201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893469" y="3091793"/>
            <a:ext cx="1468351" cy="2000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 err="1">
                <a:solidFill>
                  <a:srgbClr val="FFFFFF"/>
                </a:solidFill>
                <a:latin typeface="Arial" panose="020B0604020202020204" pitchFamily="34" charset="0"/>
                <a:ea typeface="210 옴니고딕 025" panose="02020603020101020101" pitchFamily="18" charset="-127"/>
                <a:cs typeface="Arial" panose="020B0604020202020204" pitchFamily="34" charset="0"/>
              </a:rPr>
              <a:t>이름</a:t>
            </a: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210 옴니고딕 025" panose="02020603020101020101" pitchFamily="18" charset="-127"/>
                <a:cs typeface="Arial" panose="020B0604020202020204" pitchFamily="34" charset="0"/>
              </a:rPr>
              <a:t> </a:t>
            </a:r>
            <a:r>
              <a:rPr lang="en-US" sz="1200" b="1" dirty="0">
                <a:solidFill>
                  <a:srgbClr val="FF3366"/>
                </a:solidFill>
                <a:latin typeface="Arial" panose="020B0604020202020204" pitchFamily="34" charset="0"/>
                <a:ea typeface="210 옴니고딕 025" panose="02020603020101020101" pitchFamily="18" charset="-127"/>
                <a:cs typeface="Arial" panose="020B0604020202020204" pitchFamily="34" charset="0"/>
              </a:rPr>
              <a:t>오</a:t>
            </a:r>
            <a:r>
              <a:rPr lang="ko-KR" altLang="en-US" sz="1200" b="1" dirty="0">
                <a:solidFill>
                  <a:srgbClr val="FF3366"/>
                </a:solidFill>
                <a:latin typeface="Arial" panose="020B0604020202020204" pitchFamily="34" charset="0"/>
                <a:ea typeface="210 옴니고딕 025" panose="02020603020101020101" pitchFamily="18" charset="-127"/>
                <a:cs typeface="Arial" panose="020B0604020202020204" pitchFamily="34" charset="0"/>
              </a:rPr>
              <a:t>답</a:t>
            </a: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210 옴니고딕 025" panose="02020603020101020101" pitchFamily="18" charset="-127"/>
                <a:cs typeface="Arial" panose="020B0604020202020204" pitchFamily="34" charset="0"/>
              </a:rPr>
              <a:t> &amp; 표정 </a:t>
            </a:r>
            <a:r>
              <a:rPr lang="en-US" sz="1200" b="1" dirty="0">
                <a:solidFill>
                  <a:srgbClr val="4D79FF"/>
                </a:solidFill>
                <a:latin typeface="Arial" panose="020B0604020202020204" pitchFamily="34" charset="0"/>
                <a:ea typeface="210 옴니고딕 025" panose="02020603020101020101" pitchFamily="18" charset="-127"/>
                <a:cs typeface="Arial" panose="020B0604020202020204" pitchFamily="34" charset="0"/>
              </a:rPr>
              <a:t>정답</a:t>
            </a:r>
            <a:endParaRPr lang="en-US" sz="1200" dirty="0">
              <a:latin typeface="Arial" panose="020B0604020202020204" pitchFamily="34" charset="0"/>
              <a:ea typeface="210 옴니고딕 025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71500" y="3752590"/>
            <a:ext cx="3893344" cy="107334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4D79FF">
                <a:alpha val="2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5813" y="3966902"/>
            <a:ext cx="1439625" cy="2657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4D79FF"/>
                </a:solidFill>
                <a:latin typeface="Arial Black" panose="020B0A04020102020204" pitchFamily="34" charset="0"/>
                <a:ea typeface="Space Grotesk" pitchFamily="34" charset="-122"/>
                <a:cs typeface="Space Grotesk" pitchFamily="34" charset="-120"/>
              </a:rPr>
              <a:t>Wrong_Smile</a:t>
            </a:r>
            <a:endParaRPr lang="en-US" sz="1602" dirty="0">
              <a:latin typeface="Arial Black" panose="020B0A040201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85813" y="4365166"/>
            <a:ext cx="1468351" cy="2000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210 옴니고딕 025" panose="02020603020101020101" pitchFamily="18" charset="-127"/>
                <a:cs typeface="Arial" panose="020B0604020202020204" pitchFamily="34" charset="0"/>
              </a:rPr>
              <a:t>이름 </a:t>
            </a:r>
            <a:r>
              <a:rPr lang="en-US" sz="1200" b="1" dirty="0">
                <a:solidFill>
                  <a:srgbClr val="4D79FF"/>
                </a:solidFill>
                <a:latin typeface="Arial" panose="020B0604020202020204" pitchFamily="34" charset="0"/>
                <a:ea typeface="210 옴니고딕 025" panose="02020603020101020101" pitchFamily="18" charset="-127"/>
                <a:cs typeface="Arial" panose="020B0604020202020204" pitchFamily="34" charset="0"/>
              </a:rPr>
              <a:t>정답</a:t>
            </a: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210 옴니고딕 025" panose="02020603020101020101" pitchFamily="18" charset="-127"/>
                <a:cs typeface="Arial" panose="020B0604020202020204" pitchFamily="34" charset="0"/>
              </a:rPr>
              <a:t> &amp; </a:t>
            </a:r>
            <a:r>
              <a:rPr lang="en-US" sz="1200" dirty="0" err="1">
                <a:solidFill>
                  <a:srgbClr val="FFFFFF"/>
                </a:solidFill>
                <a:latin typeface="Arial" panose="020B0604020202020204" pitchFamily="34" charset="0"/>
                <a:ea typeface="210 옴니고딕 025" panose="02020603020101020101" pitchFamily="18" charset="-127"/>
                <a:cs typeface="Arial" panose="020B0604020202020204" pitchFamily="34" charset="0"/>
              </a:rPr>
              <a:t>표정</a:t>
            </a: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210 옴니고딕 025" panose="02020603020101020101" pitchFamily="18" charset="-127"/>
                <a:cs typeface="Arial" panose="020B0604020202020204" pitchFamily="34" charset="0"/>
              </a:rPr>
              <a:t> </a:t>
            </a:r>
            <a:r>
              <a:rPr lang="en-US" sz="1200" b="1" dirty="0">
                <a:solidFill>
                  <a:srgbClr val="FF3366"/>
                </a:solidFill>
                <a:latin typeface="Arial" panose="020B0604020202020204" pitchFamily="34" charset="0"/>
                <a:ea typeface="210 옴니고딕 025" panose="02020603020101020101" pitchFamily="18" charset="-127"/>
                <a:cs typeface="Arial" panose="020B0604020202020204" pitchFamily="34" charset="0"/>
              </a:rPr>
              <a:t>오</a:t>
            </a:r>
            <a:r>
              <a:rPr lang="ko-KR" altLang="en-US" sz="1200" b="1" dirty="0">
                <a:solidFill>
                  <a:srgbClr val="FF3366"/>
                </a:solidFill>
                <a:latin typeface="Arial" panose="020B0604020202020204" pitchFamily="34" charset="0"/>
                <a:ea typeface="210 옴니고딕 025" panose="02020603020101020101" pitchFamily="18" charset="-127"/>
                <a:cs typeface="Arial" panose="020B0604020202020204" pitchFamily="34" charset="0"/>
              </a:rPr>
              <a:t>답</a:t>
            </a:r>
            <a:endParaRPr lang="en-US" sz="1200" dirty="0">
              <a:latin typeface="Arial" panose="020B0604020202020204" pitchFamily="34" charset="0"/>
              <a:ea typeface="210 옴니고딕 025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679156" y="3752590"/>
            <a:ext cx="3893344" cy="107334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4D79FF">
                <a:alpha val="2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93469" y="3966902"/>
            <a:ext cx="1109406" cy="2657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4D79FF"/>
                </a:solidFill>
                <a:latin typeface="Arial Black" panose="020B0A04020102020204" pitchFamily="34" charset="0"/>
                <a:ea typeface="Space Grotesk" pitchFamily="34" charset="-122"/>
                <a:cs typeface="Space Grotesk" pitchFamily="34" charset="-120"/>
              </a:rPr>
              <a:t>All_Wrong</a:t>
            </a:r>
            <a:endParaRPr lang="en-US" sz="1602" dirty="0">
              <a:latin typeface="Arial Black" panose="020B0A040201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893469" y="4365166"/>
            <a:ext cx="1468351" cy="2000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 err="1">
                <a:solidFill>
                  <a:srgbClr val="FFFFFF"/>
                </a:solidFill>
                <a:latin typeface="Arial" panose="020B0604020202020204" pitchFamily="34" charset="0"/>
                <a:ea typeface="210 옴니고딕 025" panose="02020603020101020101" pitchFamily="18" charset="-127"/>
                <a:cs typeface="Arial" panose="020B0604020202020204" pitchFamily="34" charset="0"/>
              </a:rPr>
              <a:t>이름</a:t>
            </a: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210 옴니고딕 025" panose="02020603020101020101" pitchFamily="18" charset="-127"/>
                <a:cs typeface="Arial" panose="020B0604020202020204" pitchFamily="34" charset="0"/>
              </a:rPr>
              <a:t> </a:t>
            </a:r>
            <a:r>
              <a:rPr lang="en-US" sz="1200" b="1" dirty="0">
                <a:solidFill>
                  <a:srgbClr val="FF3366"/>
                </a:solidFill>
                <a:latin typeface="Arial" panose="020B0604020202020204" pitchFamily="34" charset="0"/>
                <a:ea typeface="210 옴니고딕 025" panose="02020603020101020101" pitchFamily="18" charset="-127"/>
                <a:cs typeface="Arial" panose="020B0604020202020204" pitchFamily="34" charset="0"/>
              </a:rPr>
              <a:t>오</a:t>
            </a:r>
            <a:r>
              <a:rPr lang="ko-KR" altLang="en-US" sz="1200" b="1" dirty="0">
                <a:solidFill>
                  <a:srgbClr val="FF3366"/>
                </a:solidFill>
                <a:latin typeface="Arial" panose="020B0604020202020204" pitchFamily="34" charset="0"/>
                <a:ea typeface="210 옴니고딕 025" panose="02020603020101020101" pitchFamily="18" charset="-127"/>
                <a:cs typeface="Arial" panose="020B0604020202020204" pitchFamily="34" charset="0"/>
              </a:rPr>
              <a:t>답</a:t>
            </a: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210 옴니고딕 025" panose="02020603020101020101" pitchFamily="18" charset="-127"/>
                <a:cs typeface="Arial" panose="020B0604020202020204" pitchFamily="34" charset="0"/>
              </a:rPr>
              <a:t> &amp; </a:t>
            </a:r>
            <a:r>
              <a:rPr lang="en-US" sz="1200" dirty="0" err="1">
                <a:solidFill>
                  <a:srgbClr val="FFFFFF"/>
                </a:solidFill>
                <a:latin typeface="Arial" panose="020B0604020202020204" pitchFamily="34" charset="0"/>
                <a:ea typeface="210 옴니고딕 025" panose="02020603020101020101" pitchFamily="18" charset="-127"/>
                <a:cs typeface="Arial" panose="020B0604020202020204" pitchFamily="34" charset="0"/>
              </a:rPr>
              <a:t>표정</a:t>
            </a: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210 옴니고딕 025" panose="02020603020101020101" pitchFamily="18" charset="-127"/>
                <a:cs typeface="Arial" panose="020B0604020202020204" pitchFamily="34" charset="0"/>
              </a:rPr>
              <a:t> </a:t>
            </a:r>
            <a:r>
              <a:rPr lang="en-US" sz="1200" b="1" dirty="0">
                <a:solidFill>
                  <a:srgbClr val="FF3366"/>
                </a:solidFill>
                <a:latin typeface="Arial" panose="020B0604020202020204" pitchFamily="34" charset="0"/>
                <a:ea typeface="210 옴니고딕 025" panose="02020603020101020101" pitchFamily="18" charset="-127"/>
                <a:cs typeface="Arial" panose="020B0604020202020204" pitchFamily="34" charset="0"/>
              </a:rPr>
              <a:t>오</a:t>
            </a:r>
            <a:r>
              <a:rPr lang="ko-KR" altLang="en-US" sz="1200" b="1" dirty="0">
                <a:solidFill>
                  <a:srgbClr val="FF3366"/>
                </a:solidFill>
                <a:latin typeface="Arial" panose="020B0604020202020204" pitchFamily="34" charset="0"/>
                <a:ea typeface="210 옴니고딕 025" panose="02020603020101020101" pitchFamily="18" charset="-127"/>
                <a:cs typeface="Arial" panose="020B0604020202020204" pitchFamily="34" charset="0"/>
              </a:rPr>
              <a:t>답</a:t>
            </a:r>
            <a:endParaRPr lang="en-US" sz="1200" dirty="0">
              <a:latin typeface="Arial" panose="020B0604020202020204" pitchFamily="34" charset="0"/>
              <a:ea typeface="210 옴니고딕 025" panose="02020603020101020101" pitchFamily="18" charset="-127"/>
              <a:cs typeface="Arial" panose="020B0604020202020204" pitchFamily="34" charset="0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1D58050B-70EB-B13F-5DED-8FE3632BD1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0680" y="2620906"/>
            <a:ext cx="789967" cy="789967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C017363E-DCF5-367D-98AA-1AF5806A25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959" y="2620905"/>
            <a:ext cx="789968" cy="789968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8365B3BD-42A4-C8FA-973B-00DD6616E7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6558" y="2615492"/>
            <a:ext cx="789967" cy="789967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183A67E3-175B-46DF-588B-D9C310A6683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335" y="2620905"/>
            <a:ext cx="789966" cy="789966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130F2E4C-355A-A08C-C0D2-D3F0869B5E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123" y="3832023"/>
            <a:ext cx="805080" cy="801186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6C9161E5-1498-F10E-6ADB-278CBFC272D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6102" y="3823922"/>
            <a:ext cx="788400" cy="809768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E28E4BE6-7E7D-871F-4F69-E0EE6D7016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6558" y="3823922"/>
            <a:ext cx="789967" cy="789967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4225E7C3-668B-E55E-52A6-F5B41CD1FF5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378" y="3823921"/>
            <a:ext cx="812923" cy="7899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90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001911"/>
            <a:ext cx="9144000" cy="7144"/>
          </a:xfrm>
          <a:prstGeom prst="rect">
            <a:avLst/>
          </a:prstGeom>
          <a:solidFill>
            <a:srgbClr val="CAD7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357188"/>
            <a:ext cx="7175041" cy="4228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FFFFFF"/>
                </a:solidFill>
                <a:latin typeface="Arial Black" panose="020B0A04020102020204" pitchFamily="34" charset="0"/>
                <a:ea typeface="Space Grotesk" pitchFamily="34" charset="-122"/>
                <a:cs typeface="Space Grotesk" pitchFamily="34" charset="-120"/>
              </a:rPr>
              <a:t>2. 사용설명서: AI vs OpenCV 성능 벤치마크</a:t>
            </a:r>
            <a:endParaRPr lang="en-US" sz="2649" dirty="0">
              <a:latin typeface="Arial Black" panose="020B0A040201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500" y="1267123"/>
            <a:ext cx="888064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D79FF"/>
                </a:solidFill>
                <a:latin typeface="Arial" panose="020B0604020202020204" pitchFamily="34" charset="0"/>
                <a:ea typeface="Space Grotesk" pitchFamily="34" charset="-122"/>
                <a:cs typeface="Arial" panose="020B0604020202020204" pitchFamily="34" charset="0"/>
              </a:rPr>
              <a:t>[실험 조건]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500" y="1556445"/>
            <a:ext cx="3429000" cy="646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105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객관적 비교를 위해 지나친 측면이나 어두운 조명 등의 악조건 데이터를 배제하고</a:t>
            </a:r>
            <a:r>
              <a:rPr lang="en-US" altLang="ko-KR" sz="105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 </a:t>
            </a:r>
            <a:r>
              <a:rPr lang="ko-KR" altLang="en-US" sz="105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고전 알고리즘에 불리하지 않은 양질의 정면 데이터로 통일하여 공정한 벤치마크 수행</a:t>
            </a:r>
            <a:r>
              <a:rPr lang="en-US" altLang="ko-KR" sz="105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050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71500" y="2313682"/>
            <a:ext cx="888064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D79FF"/>
                </a:solidFill>
                <a:latin typeface="Arial" panose="020B0604020202020204" pitchFamily="34" charset="0"/>
                <a:ea typeface="Space Grotesk" pitchFamily="34" charset="-122"/>
                <a:cs typeface="Arial" panose="020B0604020202020204" pitchFamily="34" charset="0"/>
              </a:rPr>
              <a:t>[분석 결과]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71500" y="2617291"/>
            <a:ext cx="3429000" cy="785813"/>
          </a:xfrm>
          <a:prstGeom prst="rect">
            <a:avLst/>
          </a:prstGeom>
          <a:solidFill>
            <a:srgbClr val="4D79FF">
              <a:alpha val="1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2617291"/>
            <a:ext cx="28575" cy="785813"/>
          </a:xfrm>
          <a:prstGeom prst="rect">
            <a:avLst/>
          </a:prstGeom>
          <a:solidFill>
            <a:srgbClr val="4D79FF"/>
          </a:solidFill>
          <a:ln/>
        </p:spPr>
      </p:sp>
      <p:sp>
        <p:nvSpPr>
          <p:cNvPr id="11" name="Text 8"/>
          <p:cNvSpPr/>
          <p:nvPr/>
        </p:nvSpPr>
        <p:spPr>
          <a:xfrm>
            <a:off x="642938" y="2688729"/>
            <a:ext cx="32861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4D79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OpenCV Haar Cascade:</a:t>
            </a:r>
            <a:r>
              <a:rPr lang="en-US" sz="1050" dirty="0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
표정 재현율(Recall) </a:t>
            </a:r>
            <a:r>
              <a:rPr lang="en-US" sz="987" b="1" dirty="0">
                <a:solidFill>
                  <a:srgbClr val="4D79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0.35</a:t>
            </a:r>
            <a:r>
              <a:rPr lang="en-US" sz="1050" dirty="0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
→ 실제 웃는 표정의 65%를 놓치는 한계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71500" y="3474541"/>
            <a:ext cx="3429000" cy="571500"/>
          </a:xfrm>
          <a:prstGeom prst="rect">
            <a:avLst/>
          </a:prstGeom>
          <a:solidFill>
            <a:srgbClr val="4D79FF">
              <a:alpha val="1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71500" y="3474541"/>
            <a:ext cx="28575" cy="571500"/>
          </a:xfrm>
          <a:prstGeom prst="rect">
            <a:avLst/>
          </a:prstGeom>
          <a:solidFill>
            <a:srgbClr val="4D79FF"/>
          </a:solidFill>
          <a:ln/>
        </p:spPr>
      </p:sp>
      <p:sp>
        <p:nvSpPr>
          <p:cNvPr id="14" name="Text 11"/>
          <p:cNvSpPr/>
          <p:nvPr/>
        </p:nvSpPr>
        <p:spPr>
          <a:xfrm>
            <a:off x="642938" y="3545979"/>
            <a:ext cx="3286125" cy="411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4D79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자체 설계 Multi-Task AI:</a:t>
            </a:r>
            <a:r>
              <a:rPr lang="en-US" sz="1050" dirty="0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
재현율 </a:t>
            </a:r>
            <a:r>
              <a:rPr lang="en-US" sz="987" b="1" dirty="0">
                <a:solidFill>
                  <a:srgbClr val="4D79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0.79</a:t>
            </a:r>
            <a:r>
              <a:rPr lang="en-US" sz="1050" dirty="0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, 정확도 </a:t>
            </a:r>
            <a:r>
              <a:rPr lang="en-US" sz="987" b="1" dirty="0">
                <a:solidFill>
                  <a:srgbClr val="4D79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0.78</a:t>
            </a:r>
            <a:r>
              <a:rPr lang="en-US" sz="1050" dirty="0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달성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71500" y="4160341"/>
            <a:ext cx="484107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D79FF"/>
                </a:solidFill>
                <a:latin typeface="Arial" panose="020B0604020202020204" pitchFamily="34" charset="0"/>
                <a:ea typeface="Space Grotesk" pitchFamily="34" charset="-122"/>
                <a:cs typeface="Arial" panose="020B0604020202020204" pitchFamily="34" charset="0"/>
              </a:rPr>
              <a:t>[결론]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71500" y="4449663"/>
            <a:ext cx="3429000" cy="411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딥러닝 기반 예측 알고리즘의 </a:t>
            </a:r>
            <a:r>
              <a:rPr lang="en-US" sz="987" b="1" dirty="0">
                <a:solidFill>
                  <a:srgbClr val="4D79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실효성 및 </a:t>
            </a:r>
            <a:r>
              <a:rPr lang="en-US" sz="987" b="1" dirty="0" err="1">
                <a:solidFill>
                  <a:srgbClr val="4D79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우수성</a:t>
            </a:r>
            <a:r>
              <a:rPr lang="en-US" sz="1050" dirty="0" err="1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을</a:t>
            </a:r>
            <a:r>
              <a:rPr lang="en-US" sz="1050" dirty="0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</a:p>
          <a:p>
            <a:pPr marL="0" indent="0" algn="l">
              <a:lnSpc>
                <a:spcPts val="1700"/>
              </a:lnSpc>
              <a:buNone/>
            </a:pPr>
            <a:r>
              <a:rPr lang="en-US" sz="1050" dirty="0" err="1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수치로</a:t>
            </a:r>
            <a:r>
              <a:rPr lang="en-US" sz="1050" dirty="0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증명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1A4F10F-845A-5007-E6EC-1174FB9A6E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843" y="1178417"/>
            <a:ext cx="4417900" cy="36934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90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001911"/>
            <a:ext cx="9144000" cy="7144"/>
          </a:xfrm>
          <a:prstGeom prst="rect">
            <a:avLst/>
          </a:prstGeom>
          <a:solidFill>
            <a:srgbClr val="CAD7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357188"/>
            <a:ext cx="6460102" cy="4228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FFFFFF"/>
                </a:solidFill>
                <a:latin typeface="Arial Black" panose="020B0A04020102020204" pitchFamily="34" charset="0"/>
                <a:ea typeface="Space Grotesk" pitchFamily="34" charset="-122"/>
                <a:cs typeface="Space Grotesk" pitchFamily="34" charset="-120"/>
              </a:rPr>
              <a:t>2. 사용설명서: 연예인별 모델 정확도 분석</a:t>
            </a:r>
            <a:endParaRPr lang="en-US" sz="2649" dirty="0">
              <a:latin typeface="Arial Black" panose="020B0A040201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500" y="1754153"/>
            <a:ext cx="1513235" cy="2282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D79FF"/>
                </a:solidFill>
                <a:latin typeface="Arial Black" panose="020B0A04020102020204" pitchFamily="34" charset="0"/>
                <a:ea typeface="Space Grotesk" pitchFamily="34" charset="-122"/>
                <a:cs typeface="Space Grotesk" pitchFamily="34" charset="-120"/>
              </a:rPr>
              <a:t>[정확도 상세 분석]</a:t>
            </a:r>
            <a:endParaRPr lang="en-US" sz="1397" dirty="0">
              <a:latin typeface="Arial Black" panose="020B0A040201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500" y="2130986"/>
            <a:ext cx="3429000" cy="48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• 8명의 연예인 클래스 중 </a:t>
            </a:r>
            <a:r>
              <a:rPr lang="en-US" sz="1090" b="1" dirty="0">
                <a:solidFill>
                  <a:srgbClr val="4D79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'아이유'</a:t>
            </a:r>
            <a:r>
              <a:rPr lang="en-US" sz="1159" dirty="0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데이터에 대해 </a:t>
            </a:r>
            <a:r>
              <a:rPr lang="en-US" sz="1090" b="1" dirty="0">
                <a:solidFill>
                  <a:srgbClr val="4D79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96.9%</a:t>
            </a:r>
            <a:r>
              <a:rPr lang="en-US" sz="1159" dirty="0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로 가장 높은 분류 정확도를 달성.</a:t>
            </a:r>
            <a:endParaRPr lang="en-US" sz="115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71500" y="2741051"/>
            <a:ext cx="3429000" cy="788659"/>
          </a:xfrm>
          <a:prstGeom prst="rect">
            <a:avLst/>
          </a:prstGeom>
          <a:solidFill>
            <a:srgbClr val="4D79FF">
              <a:alpha val="1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2741051"/>
            <a:ext cx="28575" cy="788659"/>
          </a:xfrm>
          <a:prstGeom prst="rect">
            <a:avLst/>
          </a:prstGeom>
          <a:solidFill>
            <a:srgbClr val="4D79FF"/>
          </a:solidFill>
          <a:ln/>
        </p:spPr>
      </p:sp>
      <p:sp>
        <p:nvSpPr>
          <p:cNvPr id="10" name="Text 7"/>
          <p:cNvSpPr/>
          <p:nvPr/>
        </p:nvSpPr>
        <p:spPr>
          <a:xfrm>
            <a:off x="714375" y="2883926"/>
            <a:ext cx="3143250" cy="48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• 반면 </a:t>
            </a:r>
            <a:r>
              <a:rPr lang="en-US" sz="1090" b="1" dirty="0">
                <a:solidFill>
                  <a:srgbClr val="FF33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'제니'</a:t>
            </a:r>
            <a:r>
              <a:rPr lang="en-US" sz="1159" dirty="0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클래스의 경우 정확도가 </a:t>
            </a:r>
            <a:r>
              <a:rPr lang="en-US" sz="1090" b="1" dirty="0">
                <a:solidFill>
                  <a:srgbClr val="FF33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14.3%</a:t>
            </a:r>
            <a:r>
              <a:rPr lang="en-US" sz="1159" dirty="0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로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159" dirty="0" err="1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크게</a:t>
            </a:r>
            <a:r>
              <a:rPr lang="en-US" sz="1159" dirty="0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저조함.</a:t>
            </a:r>
            <a:endParaRPr lang="en-US" sz="115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71500" y="3636866"/>
            <a:ext cx="3429000" cy="73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altLang="ko-KR" sz="1159" dirty="0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• </a:t>
            </a:r>
            <a:r>
              <a:rPr lang="en-US" sz="1159" dirty="0" err="1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이는</a:t>
            </a:r>
            <a:r>
              <a:rPr lang="en-US" sz="1159" dirty="0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특정 인물의 데이터 품질 문제거나, 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159" dirty="0" err="1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무대</a:t>
            </a:r>
            <a:r>
              <a:rPr lang="en-US" sz="1159" dirty="0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화장/조명 등 Feature 추출을 방해하는 </a:t>
            </a:r>
            <a:r>
              <a:rPr lang="en-US" sz="1159" dirty="0" err="1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외적</a:t>
            </a:r>
            <a:r>
              <a:rPr lang="en-US" sz="1159" dirty="0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159" dirty="0" err="1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노이즈가</a:t>
            </a:r>
            <a:r>
              <a:rPr lang="en-US" sz="1159" dirty="0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159" dirty="0" err="1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강하게</a:t>
            </a:r>
            <a:r>
              <a:rPr lang="en-US" sz="1159" dirty="0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작용했음을 시사.</a:t>
            </a:r>
            <a:endParaRPr lang="en-US" sz="115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A8916368-9A42-6D3A-BD44-C661B75F93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937" y="1152265"/>
            <a:ext cx="4586840" cy="36340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233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16186"/>
            <a:ext cx="9144000" cy="7144"/>
          </a:xfrm>
          <a:prstGeom prst="rect">
            <a:avLst/>
          </a:prstGeom>
          <a:solidFill>
            <a:srgbClr val="CAD7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357188"/>
            <a:ext cx="5979201" cy="423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 </a:t>
            </a:r>
            <a:r>
              <a:rPr lang="en-US" sz="2649" b="1" dirty="0" err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문제점</a:t>
            </a:r>
            <a:r>
              <a:rPr lang="en-US" sz="2649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: 4단계 </a:t>
            </a:r>
            <a:r>
              <a:rPr lang="en-US" sz="2649" b="1" dirty="0">
                <a:solidFill>
                  <a:srgbClr val="FFFFFF"/>
                </a:solidFill>
                <a:latin typeface="Arial Black" panose="020B0A04020102020204" pitchFamily="34" charset="0"/>
                <a:ea typeface="Space Grotesk" pitchFamily="34" charset="-122"/>
                <a:cs typeface="Space Grotesk" pitchFamily="34" charset="-120"/>
              </a:rPr>
              <a:t>오류</a:t>
            </a:r>
            <a:r>
              <a:rPr lang="en-US" sz="2649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분류 비율 분석</a:t>
            </a:r>
            <a:endParaRPr lang="en-US" sz="2649" dirty="0"/>
          </a:p>
        </p:txBody>
      </p:sp>
      <p:sp>
        <p:nvSpPr>
          <p:cNvPr id="6" name="Text 3"/>
          <p:cNvSpPr/>
          <p:nvPr/>
        </p:nvSpPr>
        <p:spPr>
          <a:xfrm>
            <a:off x="571500" y="1806308"/>
            <a:ext cx="1752083" cy="2282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D79FF"/>
                </a:solidFill>
                <a:latin typeface="Arial Black" panose="020B0A04020102020204" pitchFamily="34" charset="0"/>
                <a:ea typeface="Space Grotesk" pitchFamily="34" charset="-122"/>
                <a:cs typeface="Space Grotesk" pitchFamily="34" charset="-120"/>
              </a:rPr>
              <a:t>[차트 분석 및 시사점]</a:t>
            </a:r>
            <a:endParaRPr lang="en-US" sz="1397" dirty="0">
              <a:latin typeface="Arial Black" panose="020B0A040201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71500" y="2161710"/>
            <a:ext cx="3571875" cy="731509"/>
          </a:xfrm>
          <a:prstGeom prst="rect">
            <a:avLst/>
          </a:prstGeom>
          <a:solidFill>
            <a:srgbClr val="4D79FF">
              <a:alpha val="1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2161710"/>
            <a:ext cx="28575" cy="731509"/>
          </a:xfrm>
          <a:prstGeom prst="rect">
            <a:avLst/>
          </a:prstGeom>
          <a:solidFill>
            <a:srgbClr val="4D79FF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2276010"/>
            <a:ext cx="3343275" cy="48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✅ 전체 테스트 셋의 </a:t>
            </a:r>
            <a:r>
              <a:rPr lang="en-US" sz="1090" b="1" dirty="0">
                <a:solidFill>
                  <a:srgbClr val="4D79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64.5%(91장)</a:t>
            </a:r>
            <a:r>
              <a:rPr lang="en-US" sz="1159" dirty="0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를 오차 </a:t>
            </a:r>
            <a:r>
              <a:rPr lang="en-US" sz="1159" dirty="0" err="1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없이</a:t>
            </a:r>
            <a:r>
              <a:rPr lang="en-US" sz="1159" dirty="0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159" dirty="0" err="1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완벽하게</a:t>
            </a:r>
            <a:r>
              <a:rPr lang="en-US" sz="1159" dirty="0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예측 성공.</a:t>
            </a:r>
            <a:endParaRPr lang="en-US" sz="115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71500" y="2978944"/>
            <a:ext cx="3571875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🤔 오분류 중 가장 큰 비중:
</a:t>
            </a:r>
            <a:r>
              <a:rPr lang="en-US" sz="1090" b="1" dirty="0">
                <a:solidFill>
                  <a:srgbClr val="FF33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Wrong Smile (표정 오답)</a:t>
            </a:r>
            <a:r>
              <a:rPr lang="en-US" sz="1159" dirty="0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
→ 전체의 </a:t>
            </a:r>
            <a:r>
              <a:rPr lang="en-US" sz="1090" b="1" dirty="0">
                <a:solidFill>
                  <a:srgbClr val="FF33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19.1% (27장)</a:t>
            </a:r>
            <a:r>
              <a:rPr lang="en-US" sz="1159" dirty="0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</a:t>
            </a:r>
            <a:endParaRPr lang="en-US" sz="115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71500" y="3819032"/>
            <a:ext cx="3571875" cy="410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96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이진 분류임에도 표정 오답이 가장 많은 이유는 '옅은 미소'의 라벨링 모호성에서 비롯된 것으로 분석됨.</a:t>
            </a:r>
            <a:endParaRPr lang="en-US" sz="996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04FEC80-B616-F4AC-D5B6-8EC394E5C4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27" y="1137377"/>
            <a:ext cx="3819315" cy="35693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358"/>
            <a:ext cx="9144000" cy="514885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48411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0" y="1054939"/>
            <a:ext cx="9144000" cy="7144"/>
          </a:xfrm>
          <a:prstGeom prst="rect">
            <a:avLst/>
          </a:prstGeom>
          <a:solidFill>
            <a:srgbClr val="CAD7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357188"/>
            <a:ext cx="8001000" cy="407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2650" b="1" dirty="0">
                <a:solidFill>
                  <a:schemeClr val="bg1"/>
                </a:solidFill>
                <a:latin typeface="Arial Black" panose="020B0A04020102020204" pitchFamily="34" charset="0"/>
              </a:rPr>
              <a:t>3. </a:t>
            </a:r>
            <a:r>
              <a:rPr lang="ko-KR" altLang="en-US" sz="2650" b="1" dirty="0">
                <a:solidFill>
                  <a:schemeClr val="bg1"/>
                </a:solidFill>
                <a:latin typeface="Arial Black" panose="020B0A04020102020204" pitchFamily="34" charset="0"/>
              </a:rPr>
              <a:t>문제점</a:t>
            </a:r>
            <a:r>
              <a:rPr lang="en-US" altLang="ko-KR" sz="2650" b="1" dirty="0">
                <a:solidFill>
                  <a:schemeClr val="bg1"/>
                </a:solidFill>
                <a:latin typeface="Arial Black" panose="020B0A04020102020204" pitchFamily="34" charset="0"/>
              </a:rPr>
              <a:t>: </a:t>
            </a:r>
            <a:r>
              <a:rPr lang="ko-KR" altLang="en-US" sz="2650" b="1" dirty="0">
                <a:solidFill>
                  <a:schemeClr val="bg1"/>
                </a:solidFill>
                <a:latin typeface="Arial Black" panose="020B0A04020102020204" pitchFamily="34" charset="0"/>
              </a:rPr>
              <a:t>인물 </a:t>
            </a:r>
            <a:r>
              <a:rPr lang="ko-KR" altLang="en-US" sz="265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오분류</a:t>
            </a:r>
            <a:r>
              <a:rPr lang="ko-KR" altLang="en-US" sz="265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altLang="ko-KR" sz="2650" b="1" dirty="0">
                <a:solidFill>
                  <a:schemeClr val="bg1"/>
                </a:solidFill>
                <a:latin typeface="Arial Black" panose="020B0A04020102020204" pitchFamily="34" charset="0"/>
              </a:rPr>
              <a:t>TOP 5 </a:t>
            </a:r>
            <a:r>
              <a:rPr lang="ko-KR" altLang="en-US" sz="2650" b="1" dirty="0">
                <a:solidFill>
                  <a:schemeClr val="bg1"/>
                </a:solidFill>
                <a:latin typeface="Arial Black" panose="020B0A04020102020204" pitchFamily="34" charset="0"/>
              </a:rPr>
              <a:t>분석</a:t>
            </a:r>
          </a:p>
        </p:txBody>
      </p:sp>
      <p:sp>
        <p:nvSpPr>
          <p:cNvPr id="6" name="Text 3"/>
          <p:cNvSpPr/>
          <p:nvPr/>
        </p:nvSpPr>
        <p:spPr>
          <a:xfrm>
            <a:off x="571500" y="1991683"/>
            <a:ext cx="3068148" cy="228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D79FF"/>
                </a:solidFill>
                <a:latin typeface="Arial Black" panose="020B0A04020102020204" pitchFamily="34" charset="0"/>
                <a:ea typeface="Space Grotesk" pitchFamily="34" charset="-122"/>
                <a:cs typeface="Space Grotesk" pitchFamily="34" charset="-120"/>
              </a:rPr>
              <a:t>[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Arial Black" panose="020B0A04020102020204" pitchFamily="34" charset="0"/>
              </a:rPr>
              <a:t>오분류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 Black" panose="020B0A04020102020204" pitchFamily="34" charset="0"/>
              </a:rPr>
              <a:t> 빈도 상위 5건을 추출한 결과</a:t>
            </a:r>
            <a:r>
              <a:rPr lang="en-US" sz="1397" b="1" dirty="0">
                <a:solidFill>
                  <a:srgbClr val="4D79FF"/>
                </a:solidFill>
                <a:latin typeface="Arial Black" panose="020B0A04020102020204" pitchFamily="34" charset="0"/>
                <a:ea typeface="Space Grotesk" pitchFamily="34" charset="-122"/>
                <a:cs typeface="Space Grotesk" pitchFamily="34" charset="-120"/>
              </a:rPr>
              <a:t>]</a:t>
            </a:r>
            <a:endParaRPr lang="en-US" sz="1397" b="1" dirty="0">
              <a:latin typeface="Arial Black" panose="020B0A040201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500" y="2368516"/>
            <a:ext cx="342900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'장원영 </a:t>
            </a:r>
            <a:r>
              <a:rPr lang="en-US" altLang="ko-KR" sz="1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아이유' </a:t>
            </a:r>
            <a:r>
              <a:rPr lang="ko-KR" altLang="ko-KR" sz="1200" dirty="0" err="1">
                <a:solidFill>
                  <a:srgbClr val="FF3366"/>
                </a:solidFill>
                <a:latin typeface="Arial" panose="020B0604020202020204" pitchFamily="34" charset="0"/>
                <a:ea typeface="210 옴니고딕 025" panose="02020603020101020101" pitchFamily="18" charset="-127"/>
                <a:cs typeface="Arial" panose="020B0604020202020204" pitchFamily="34" charset="0"/>
              </a:rPr>
              <a:t>오분류가</a:t>
            </a:r>
            <a:r>
              <a:rPr lang="ko-KR" altLang="ko-KR" sz="1200" dirty="0">
                <a:solidFill>
                  <a:srgbClr val="FF3366"/>
                </a:solidFill>
                <a:latin typeface="Arial" panose="020B0604020202020204" pitchFamily="34" charset="0"/>
                <a:ea typeface="210 옴니고딕 025" panose="02020603020101020101" pitchFamily="18" charset="-127"/>
                <a:cs typeface="Arial" panose="020B0604020202020204" pitchFamily="34" charset="0"/>
              </a:rPr>
              <a:t> 5장,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‘제니 </a:t>
            </a:r>
            <a:r>
              <a:rPr lang="en-US" altLang="ko-KR" sz="1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-&gt;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카리나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’ </a:t>
            </a:r>
            <a:r>
              <a:rPr lang="ko-KR" altLang="en-US" sz="1200" dirty="0" err="1">
                <a:solidFill>
                  <a:srgbClr val="FF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오분류가</a:t>
            </a:r>
            <a:r>
              <a:rPr lang="ko-KR" altLang="en-US" sz="1200" dirty="0">
                <a:solidFill>
                  <a:srgbClr val="FF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>
                <a:solidFill>
                  <a:srgbClr val="FF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ko-KR" altLang="en-US" sz="1200" dirty="0">
                <a:solidFill>
                  <a:srgbClr val="FF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장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으로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나타남.</a:t>
            </a:r>
          </a:p>
        </p:txBody>
      </p:sp>
      <p:sp>
        <p:nvSpPr>
          <p:cNvPr id="8" name="Shape 5"/>
          <p:cNvSpPr/>
          <p:nvPr/>
        </p:nvSpPr>
        <p:spPr>
          <a:xfrm>
            <a:off x="571500" y="2978581"/>
            <a:ext cx="3429000" cy="1237819"/>
          </a:xfrm>
          <a:prstGeom prst="rect">
            <a:avLst/>
          </a:prstGeom>
          <a:solidFill>
            <a:srgbClr val="4D79FF">
              <a:alpha val="1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2978581"/>
            <a:ext cx="45719" cy="1261961"/>
          </a:xfrm>
          <a:prstGeom prst="rect">
            <a:avLst/>
          </a:prstGeom>
          <a:solidFill>
            <a:srgbClr val="4D79FF"/>
          </a:solidFill>
          <a:ln/>
        </p:spPr>
      </p:sp>
      <p:sp>
        <p:nvSpPr>
          <p:cNvPr id="10" name="Text 7"/>
          <p:cNvSpPr/>
          <p:nvPr/>
        </p:nvSpPr>
        <p:spPr>
          <a:xfrm>
            <a:off x="716416" y="3067513"/>
            <a:ext cx="3139168" cy="923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1200" dirty="0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• </a:t>
            </a:r>
            <a:r>
              <a:rPr lang="ko-KR" altLang="en-US" sz="1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특정 무대 화장이나 헤어스타일</a:t>
            </a:r>
            <a:r>
              <a:rPr lang="en-US" altLang="ko-KR" sz="1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촬영 각도 등 외모의 </a:t>
            </a:r>
            <a:r>
              <a:rPr lang="ko-KR" altLang="en-US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유사성이 높은 조건</a:t>
            </a:r>
            <a:r>
              <a:rPr lang="ko-KR" altLang="en-US" sz="1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에서 모델의 판단 교란이 발생</a:t>
            </a:r>
            <a:r>
              <a:rPr lang="en-US" altLang="ko-KR" sz="1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ko-KR" altLang="en-US" sz="1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얼굴 본연의 특징에 집중할 수 있는 </a:t>
            </a:r>
            <a:r>
              <a:rPr lang="en-US" altLang="ko-KR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Attention </a:t>
            </a:r>
            <a:r>
              <a:rPr lang="ko-KR" altLang="en-US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기법 </a:t>
            </a:r>
            <a:r>
              <a:rPr lang="ko-KR" altLang="en-US" sz="1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등의 고도화 필요성 확인</a:t>
            </a:r>
            <a:r>
              <a:rPr lang="en-US" altLang="ko-KR" sz="1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1D3754-0BEC-F6E9-2E6A-597298E16D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164" y="1434295"/>
            <a:ext cx="4746171" cy="32695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358"/>
            <a:ext cx="9144000" cy="514885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48411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0" y="1054939"/>
            <a:ext cx="9144000" cy="7144"/>
          </a:xfrm>
          <a:prstGeom prst="rect">
            <a:avLst/>
          </a:prstGeom>
          <a:solidFill>
            <a:srgbClr val="CAD7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357188"/>
            <a:ext cx="8001000" cy="422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FFFFFF"/>
                </a:solidFill>
                <a:latin typeface="Arial Black" panose="020B0A04020102020204" pitchFamily="34" charset="0"/>
                <a:ea typeface="Space Grotesk" pitchFamily="34" charset="-122"/>
                <a:cs typeface="Space Grotesk" pitchFamily="34" charset="-120"/>
              </a:rPr>
              <a:t>3. 문제점: 연예인 혼동 행렬 (Confusion Matrix)</a:t>
            </a:r>
            <a:endParaRPr lang="en-US" sz="2649" dirty="0">
              <a:latin typeface="Arial Black" panose="020B0A040201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500" y="1991683"/>
            <a:ext cx="3429000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D79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[데이터 분석 결과]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571500" y="2368516"/>
            <a:ext cx="3429000" cy="480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b="1" dirty="0">
                <a:solidFill>
                  <a:srgbClr val="E0E0E0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• </a:t>
            </a:r>
            <a:r>
              <a:rPr lang="ko-KR" altLang="en-US" sz="11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대각선</a:t>
            </a:r>
            <a:r>
              <a:rPr lang="en-US" altLang="ko-KR" sz="11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(True Positive)</a:t>
            </a:r>
            <a:r>
              <a:rPr lang="en-US" altLang="ko-KR" sz="1100" b="1" dirty="0">
                <a:solidFill>
                  <a:schemeClr val="bg2"/>
                </a:solidFill>
                <a:latin typeface="Arial Black" panose="020B0A04020102020204" pitchFamily="34" charset="0"/>
              </a:rPr>
              <a:t> </a:t>
            </a:r>
            <a:r>
              <a:rPr lang="ko-KR" altLang="en-US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분포를 통해 모델의 클래스별 예측 편향성을 분석</a:t>
            </a:r>
            <a:endParaRPr lang="en-US" sz="1159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71500" y="2978581"/>
            <a:ext cx="3429000" cy="1165248"/>
          </a:xfrm>
          <a:prstGeom prst="rect">
            <a:avLst/>
          </a:prstGeom>
          <a:solidFill>
            <a:srgbClr val="4D79FF">
              <a:alpha val="1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2978581"/>
            <a:ext cx="45719" cy="1165248"/>
          </a:xfrm>
          <a:prstGeom prst="rect">
            <a:avLst/>
          </a:prstGeom>
          <a:solidFill>
            <a:srgbClr val="4D79FF"/>
          </a:solidFill>
          <a:ln/>
        </p:spPr>
      </p:sp>
      <p:sp>
        <p:nvSpPr>
          <p:cNvPr id="10" name="Text 7"/>
          <p:cNvSpPr/>
          <p:nvPr/>
        </p:nvSpPr>
        <p:spPr>
          <a:xfrm>
            <a:off x="714375" y="3121456"/>
            <a:ext cx="3143250" cy="1087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159" dirty="0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• </a:t>
            </a:r>
            <a:r>
              <a:rPr lang="ko-KR" altLang="en-US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정확도 최하위</a:t>
            </a:r>
            <a:r>
              <a:rPr lang="ko-KR" altLang="en-US" sz="11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를 기록한 </a:t>
            </a:r>
            <a:r>
              <a:rPr lang="en-US" altLang="ko-K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ko-KR" alt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제니</a:t>
            </a:r>
            <a:r>
              <a:rPr lang="en-US" altLang="ko-K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 </a:t>
            </a:r>
            <a:r>
              <a:rPr lang="ko-KR" alt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클래스의 </a:t>
            </a:r>
            <a:r>
              <a:rPr lang="ko-KR" altLang="en-US" sz="11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테스트 데이터 </a:t>
            </a:r>
            <a:r>
              <a:rPr lang="en-US" altLang="ko-KR" sz="11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lang="ko-KR" altLang="en-US" sz="11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장 중 단 </a:t>
            </a:r>
            <a:r>
              <a:rPr lang="en-US" altLang="ko-KR" sz="11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ko-KR" altLang="en-US" sz="11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장만 정답으로 예측되었으며</a:t>
            </a:r>
            <a:r>
              <a:rPr lang="en-US" altLang="ko-KR" sz="11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1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나머지는 </a:t>
            </a:r>
            <a:r>
              <a:rPr lang="ko-KR" altLang="en-US" sz="1100" dirty="0" err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카리나와</a:t>
            </a:r>
            <a:r>
              <a:rPr lang="ko-KR" altLang="en-US" sz="11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장원영으로 잘못 편향 예측되는                   뚜렷한 경향성을 발견</a:t>
            </a:r>
            <a:r>
              <a:rPr lang="en-US" altLang="ko-KR" sz="11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ko-KR" altLang="en-US" sz="11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해당 </a:t>
            </a:r>
            <a:r>
              <a:rPr lang="ko-KR" altLang="en-US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클래스의 데이터 정제 및 양적 증강이 </a:t>
            </a:r>
            <a:r>
              <a:rPr lang="ko-KR" altLang="en-US" sz="11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필수적임</a:t>
            </a:r>
            <a:r>
              <a:rPr lang="en-US" altLang="ko-KR" sz="11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 </a:t>
            </a:r>
          </a:p>
          <a:p>
            <a:pPr marL="0" indent="0" algn="l">
              <a:lnSpc>
                <a:spcPts val="2000"/>
              </a:lnSpc>
              <a:buNone/>
            </a:pPr>
            <a:endParaRPr lang="en-US" sz="1159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4CBE76A-AC69-9511-062F-59B2A798E5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0" y="1450879"/>
            <a:ext cx="4431964" cy="3243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852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3761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30473"/>
            <a:ext cx="9144000" cy="7144"/>
          </a:xfrm>
          <a:prstGeom prst="rect">
            <a:avLst/>
          </a:prstGeom>
          <a:solidFill>
            <a:srgbClr val="CAD7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357188"/>
            <a:ext cx="7492436" cy="4228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FFFFFF"/>
                </a:solidFill>
                <a:latin typeface="Arial Black" panose="020B0A04020102020204" pitchFamily="34" charset="0"/>
                <a:ea typeface="Space Grotesk" pitchFamily="34" charset="-122"/>
                <a:cs typeface="Space Grotesk" pitchFamily="34" charset="-120"/>
              </a:rPr>
              <a:t>3. 문제점: 표정 혼동 행렬 (Confusion Matrix)</a:t>
            </a:r>
            <a:endParaRPr lang="en-US" sz="2649" dirty="0">
              <a:latin typeface="Arial Black" panose="020B0A040201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500" y="1807732"/>
            <a:ext cx="3429000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D79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[데이터 분석 결과]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571500" y="2163133"/>
            <a:ext cx="3429000" cy="744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159" dirty="0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• </a:t>
            </a:r>
            <a:r>
              <a:rPr lang="ko-KR" alt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실제 정답은 </a:t>
            </a:r>
            <a:r>
              <a:rPr lang="en-US" altLang="ko-K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'Smile' </a:t>
            </a:r>
            <a:r>
              <a:rPr lang="ko-KR" alt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이나 모델이 </a:t>
            </a:r>
            <a:r>
              <a:rPr lang="en-US" altLang="ko-K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'Neutral' </a:t>
            </a:r>
            <a:r>
              <a:rPr lang="ko-KR" alt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로 </a:t>
            </a:r>
            <a:r>
              <a:rPr lang="ko-KR" altLang="en-U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오분류한</a:t>
            </a:r>
            <a:r>
              <a:rPr lang="ko-KR" alt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False Negative </a:t>
            </a:r>
            <a:r>
              <a:rPr lang="ko-KR" alt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케이스가 </a:t>
            </a:r>
            <a:r>
              <a:rPr lang="en-US" altLang="ko-K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</a:t>
            </a:r>
            <a:r>
              <a:rPr lang="ko-KR" alt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장 발생</a:t>
            </a:r>
            <a:r>
              <a:rPr lang="en-US" altLang="ko-K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2000"/>
              </a:lnSpc>
              <a:buNone/>
            </a:pPr>
            <a:endParaRPr lang="en-US" sz="1159" dirty="0"/>
          </a:p>
        </p:txBody>
      </p:sp>
      <p:sp>
        <p:nvSpPr>
          <p:cNvPr id="8" name="Shape 5"/>
          <p:cNvSpPr/>
          <p:nvPr/>
        </p:nvSpPr>
        <p:spPr>
          <a:xfrm>
            <a:off x="600074" y="2751767"/>
            <a:ext cx="3400425" cy="1080004"/>
          </a:xfrm>
          <a:prstGeom prst="rect">
            <a:avLst/>
          </a:prstGeom>
          <a:solidFill>
            <a:srgbClr val="4D79FF">
              <a:alpha val="1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2751767"/>
            <a:ext cx="45719" cy="1080004"/>
          </a:xfrm>
          <a:prstGeom prst="rect">
            <a:avLst/>
          </a:prstGeom>
          <a:solidFill>
            <a:srgbClr val="4D79FF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2837492"/>
            <a:ext cx="3200400" cy="846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1100" dirty="0">
                <a:solidFill>
                  <a:srgbClr val="E0E0E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• </a:t>
            </a:r>
            <a:r>
              <a:rPr lang="ko-KR" altLang="en-US" sz="11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근본적 한계</a:t>
            </a:r>
            <a:r>
              <a:rPr lang="en-US" altLang="ko-KR" sz="11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:</a:t>
            </a:r>
            <a:r>
              <a:rPr lang="ko-KR" altLang="en-US" sz="11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 </a:t>
            </a:r>
            <a:r>
              <a:rPr lang="ko-KR" alt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입꼬리만 미세하게 올라간 </a:t>
            </a:r>
            <a:endParaRPr lang="en-US" altLang="ko-KR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ko-KR" alt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옅은 미소</a:t>
            </a:r>
            <a:r>
              <a:rPr lang="en-US" altLang="ko-K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 </a:t>
            </a:r>
            <a:r>
              <a:rPr lang="ko-KR" alt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데이터의 경우 </a:t>
            </a:r>
            <a:r>
              <a:rPr lang="ko-KR" altLang="en-US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수동 </a:t>
            </a:r>
            <a:r>
              <a:rPr lang="ko-KR" altLang="en-US" sz="11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라벨링</a:t>
            </a:r>
            <a:r>
              <a:rPr lang="ko-KR" altLang="en-US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과정에서 작업자의 주관이 개입됨</a:t>
            </a:r>
            <a:r>
              <a:rPr lang="en-US" altLang="ko-K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ko-KR" alt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이러한 </a:t>
            </a:r>
            <a:r>
              <a:rPr lang="ko-KR" altLang="en-US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모호성</a:t>
            </a:r>
            <a:r>
              <a:rPr lang="en-US" altLang="ko-KR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(Ambiguity)</a:t>
            </a:r>
            <a:r>
              <a:rPr lang="ko-KR" alt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을 지닌 </a:t>
            </a:r>
            <a:r>
              <a:rPr lang="en-US" altLang="ko-KR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 Sample</a:t>
            </a:r>
            <a:r>
              <a:rPr lang="ko-KR" alt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들이 딥러닝 패턴 학습에 혼선을 유발한 것으로 분석됨</a:t>
            </a:r>
            <a:r>
              <a:rPr lang="en-US" altLang="ko-K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3D98998-F0A8-F879-3499-DC3CF6316D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9998" y="1394958"/>
            <a:ext cx="3830515" cy="332524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326571" y="-147340"/>
            <a:ext cx="9144000" cy="10090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001911"/>
            <a:ext cx="9144000" cy="7144"/>
          </a:xfrm>
          <a:prstGeom prst="rect">
            <a:avLst/>
          </a:prstGeom>
          <a:solidFill>
            <a:srgbClr val="CAD7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357188"/>
            <a:ext cx="3060133" cy="4228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FFFFFF"/>
                </a:solidFill>
                <a:latin typeface="Arial Black" panose="020B0A04020102020204" pitchFamily="34" charset="0"/>
                <a:ea typeface="Space Grotesk" pitchFamily="34" charset="-122"/>
                <a:cs typeface="Space Grotesk" pitchFamily="34" charset="-120"/>
              </a:rPr>
              <a:t>4. 추후 추가할 내용</a:t>
            </a:r>
            <a:endParaRPr lang="en-US" sz="2649" dirty="0">
              <a:latin typeface="Arial Black" panose="020B0A040201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71500" y="1430536"/>
            <a:ext cx="2476481" cy="3284339"/>
          </a:xfrm>
          <a:prstGeom prst="rect">
            <a:avLst/>
          </a:prstGeom>
          <a:solidFill>
            <a:srgbClr val="161E35">
              <a:alpha val="10000"/>
            </a:srgbClr>
          </a:solidFill>
          <a:ln w="9144">
            <a:solidFill>
              <a:srgbClr val="4D79FF">
                <a:alpha val="30000"/>
              </a:srgbClr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141" y="1759148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6405" y="2448520"/>
            <a:ext cx="1946672" cy="263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Arial Black" panose="020B0A04020102020204" pitchFamily="34" charset="0"/>
                <a:ea typeface="Space Grotesk" pitchFamily="34" charset="-122"/>
                <a:cs typeface="Space Grotesk" pitchFamily="34" charset="-120"/>
              </a:rPr>
              <a:t>감정 스펙트럼 확장</a:t>
            </a:r>
            <a:endParaRPr lang="en-US" sz="1602" dirty="0">
              <a:latin typeface="Arial Black" panose="020B0A040201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829148" y="3198614"/>
            <a:ext cx="2047856" cy="677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이진 분류</a:t>
            </a:r>
            <a:r>
              <a:rPr lang="en-US" altLang="ko-KR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(Smile/Neutral) </a:t>
            </a:r>
            <a:r>
              <a:rPr lang="ko-KR" alt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형태를 </a:t>
            </a:r>
            <a:r>
              <a:rPr lang="ko-KR" altLang="en-U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고도화하여</a:t>
            </a:r>
            <a:r>
              <a:rPr lang="en-US" altLang="ko-K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분노</a:t>
            </a:r>
            <a:r>
              <a:rPr lang="en-US" altLang="ko-K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슬픔</a:t>
            </a:r>
            <a:r>
              <a:rPr lang="en-US" altLang="ko-K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놀람 등 </a:t>
            </a:r>
            <a:r>
              <a:rPr lang="en-US" altLang="ko-K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lang="ko-KR" alt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가지 미세 표정을 다중 감지할 수 있는 시스템으로 확장</a:t>
            </a:r>
            <a:r>
              <a:rPr lang="en-US" altLang="ko-K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3333731" y="1430536"/>
            <a:ext cx="2476509" cy="3284339"/>
          </a:xfrm>
          <a:prstGeom prst="rect">
            <a:avLst/>
          </a:prstGeom>
          <a:solidFill>
            <a:srgbClr val="161E35">
              <a:alpha val="10000"/>
            </a:srgbClr>
          </a:solidFill>
          <a:ln w="9144">
            <a:solidFill>
              <a:srgbClr val="4D79FF">
                <a:alpha val="30000"/>
              </a:srgbClr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4797" y="1759148"/>
            <a:ext cx="51435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98636" y="2448520"/>
            <a:ext cx="1946672" cy="263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Arial Black" panose="020B0A04020102020204" pitchFamily="34" charset="0"/>
                <a:ea typeface="Space Grotesk" pitchFamily="34" charset="-122"/>
                <a:cs typeface="Space Grotesk" pitchFamily="34" charset="-120"/>
              </a:rPr>
              <a:t>실시간 처리 최적화</a:t>
            </a:r>
            <a:endParaRPr lang="en-US" sz="1602" dirty="0">
              <a:latin typeface="Arial Black" panose="020B0A0402010202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3591379" y="3198614"/>
            <a:ext cx="2047884" cy="846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단일 이미지 처리를 넘어 영상 </a:t>
            </a:r>
            <a:r>
              <a:rPr lang="ko-KR" altLang="en-US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프레임</a:t>
            </a:r>
            <a:r>
              <a:rPr lang="en-US" altLang="ko-KR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(Video Frame) </a:t>
            </a:r>
            <a:r>
              <a:rPr lang="ko-KR" alt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단위에서의 실시간 </a:t>
            </a:r>
            <a:r>
              <a:rPr lang="ko-KR" altLang="en-US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얼굴 추적</a:t>
            </a:r>
            <a:r>
              <a:rPr lang="en-US" altLang="ko-KR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(Tracking)</a:t>
            </a:r>
            <a:r>
              <a:rPr lang="en-US" altLang="ko-K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및 다중 인물 예측 파이프라인으로 이식</a:t>
            </a:r>
            <a:r>
              <a:rPr lang="en-US" altLang="ko-K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6095991" y="1430536"/>
            <a:ext cx="2476481" cy="3284339"/>
          </a:xfrm>
          <a:prstGeom prst="rect">
            <a:avLst/>
          </a:prstGeom>
          <a:solidFill>
            <a:srgbClr val="161E35">
              <a:alpha val="10000"/>
            </a:srgbClr>
          </a:solidFill>
          <a:ln w="9144">
            <a:solidFill>
              <a:srgbClr val="4D79FF">
                <a:alpha val="30000"/>
              </a:srgbClr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5631" y="1759148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310303" y="2448520"/>
            <a:ext cx="2047856" cy="545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Arial Black" panose="020B0A04020102020204" pitchFamily="34" charset="0"/>
                <a:ea typeface="Space Grotesk" pitchFamily="34" charset="-122"/>
                <a:cs typeface="Space Grotesk" pitchFamily="34" charset="-120"/>
              </a:rPr>
              <a:t>Few-Shot Learning 도입</a:t>
            </a:r>
            <a:endParaRPr lang="en-US" sz="1602" dirty="0">
              <a:latin typeface="Arial Black" panose="020B0A04020102020204" pitchFamily="34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6353638" y="3198614"/>
            <a:ext cx="2047856" cy="1015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신규 연예인 클래스가 추가될 </a:t>
            </a:r>
            <a:r>
              <a:rPr lang="ko-KR" altLang="en-US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때마다 전체 모델 파라미터</a:t>
            </a:r>
            <a:r>
              <a:rPr lang="ko-KR" alt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를 </a:t>
            </a:r>
            <a:r>
              <a:rPr lang="ko-KR" altLang="en-U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재학습하는</a:t>
            </a:r>
            <a:r>
              <a:rPr lang="ko-KR" alt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비효율을 개선하기 위해</a:t>
            </a:r>
            <a:r>
              <a:rPr lang="en-US" altLang="ko-K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소량의 샷</a:t>
            </a:r>
            <a:r>
              <a:rPr lang="en-US" altLang="ko-KR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(Shot)</a:t>
            </a:r>
            <a:r>
              <a:rPr lang="ko-KR" alt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만으로도 특징을 추출하고 판별하는 학습 기법 검토</a:t>
            </a:r>
            <a:r>
              <a:rPr lang="en-US" altLang="ko-K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72896" y="1390715"/>
            <a:ext cx="5398209" cy="872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6800"/>
              </a:lnSpc>
              <a:buNone/>
            </a:pPr>
            <a:r>
              <a:rPr lang="en-US" sz="6218" b="1" kern="0" spc="-2" dirty="0">
                <a:solidFill>
                  <a:srgbClr val="FFFFFF"/>
                </a:solidFill>
                <a:latin typeface="Arial Black" panose="020B0A04020102020204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6218" dirty="0">
              <a:latin typeface="Arial Black" panose="020B0A04020102020204" pitchFamily="3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3354808" y="2390840"/>
            <a:ext cx="2434384" cy="3900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kern="0" spc="3" dirty="0">
                <a:solidFill>
                  <a:srgbClr val="4D79FF"/>
                </a:solidFill>
                <a:latin typeface="Arial Black" panose="020B0A04020102020204" pitchFamily="34" charset="0"/>
                <a:ea typeface="Space Grotesk" pitchFamily="34" charset="-122"/>
                <a:cs typeface="Space Grotesk" pitchFamily="34" charset="-120"/>
              </a:rPr>
              <a:t>Q&amp;A SESSION</a:t>
            </a:r>
            <a:endParaRPr lang="en-US" sz="2436" dirty="0">
              <a:latin typeface="Arial Black" panose="020B0A04020102020204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2236887" y="3257020"/>
            <a:ext cx="4670227" cy="510524"/>
          </a:xfrm>
          <a:prstGeom prst="rect">
            <a:avLst/>
          </a:prstGeom>
          <a:noFill/>
          <a:ln/>
        </p:spPr>
        <p:txBody>
          <a:bodyPr wrap="square" lIns="0" tIns="255143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269" dirty="0">
                <a:solidFill>
                  <a:srgbClr val="FFFFFF">
                    <a:alpha val="50000"/>
                  </a:srgbClr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ResNet18 기반의 인물 식별 및 미소 감지 통합 분류 모델 개발</a:t>
            </a:r>
            <a:endParaRPr lang="en-US" sz="1269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1154</Words>
  <Application>Microsoft Office PowerPoint</Application>
  <PresentationFormat>화면 슬라이드 쇼(16:9)</PresentationFormat>
  <Paragraphs>170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2" baseType="lpstr">
      <vt:lpstr>Inter</vt:lpstr>
      <vt:lpstr>Space Grotesk</vt:lpstr>
      <vt:lpstr>맑은 고딕</vt:lpstr>
      <vt:lpstr>Arial</vt:lpstr>
      <vt:lpstr>Arial Black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5</cp:revision>
  <dcterms:created xsi:type="dcterms:W3CDTF">2026-04-15T03:00:23Z</dcterms:created>
  <dcterms:modified xsi:type="dcterms:W3CDTF">2026-04-15T06:18:26Z</dcterms:modified>
</cp:coreProperties>
</file>